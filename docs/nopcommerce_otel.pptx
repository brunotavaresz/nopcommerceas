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5088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pt-PT" sz="4400" spc="-1" strike="noStrike">
                <a:solidFill>
                  <a:srgbClr val="000000"/>
                </a:solidFill>
                <a:latin typeface="Arial"/>
              </a:rPr>
              <a:t>Clique para mover o diapositivo</a:t>
            </a:r>
            <a:endParaRPr b="0" lang="pt-PT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Clique para editar o formato das notas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&lt;cabeçalho&gt;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2127345F-51FF-4601-A9EA-8F319D802034}" type="slidenum"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33FB1D6-6E83-42FF-A081-4A2FEBB9B48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282586C-A6F9-4766-B61D-FB3AED30B52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8B5239B-6EFF-4C87-BFEC-367F6E33913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A0EB54F-0D82-430B-B57F-D11A269E6DB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01DA4FE-ED24-4E53-B05C-F6254E126C4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D122B83-0F3C-4B33-9BE9-6B0F73B1E39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44CEC4A-048B-4006-B073-B0E53431721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4DC2E18-24BF-4C38-AE55-3748FECE299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0CD3412-EBF4-4E1E-B31B-62444E1AAD3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09C6C8E-B270-4206-97B9-7AF61D433C8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PT" sz="4400" spc="-1" strike="noStrike">
                <a:solidFill>
                  <a:srgbClr val="000000"/>
                </a:solidFill>
                <a:latin typeface="Arial"/>
              </a:rPr>
              <a:t>Clique para editar o formato do título</a:t>
            </a:r>
            <a:endParaRPr b="0" lang="pt-PT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3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49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8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1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9143280" cy="4968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822960" y="1417320"/>
            <a:ext cx="74973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e6edf3"/>
                </a:solidFill>
                <a:latin typeface="Calibri"/>
                <a:ea typeface="Calibri"/>
              </a:rPr>
              <a:t>nopCommerce + OpenTelemetry</a:t>
            </a:r>
            <a:endParaRPr b="0" lang="pt-PT" sz="4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822960" y="2423160"/>
            <a:ext cx="74973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7d8590"/>
                </a:solidFill>
                <a:latin typeface="Calibri"/>
                <a:ea typeface="Calibri"/>
              </a:rPr>
              <a:t>Checkout Flow Observability</a:t>
            </a:r>
            <a:endParaRPr b="0" lang="pt-PT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822960" y="3036240"/>
            <a:ext cx="2010960" cy="3600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0" y="4814640"/>
            <a:ext cx="9143280" cy="328320"/>
          </a:xfrm>
          <a:prstGeom prst="rect">
            <a:avLst/>
          </a:prstGeom>
          <a:solidFill>
            <a:srgbClr val="0a0d12"/>
          </a:solidFill>
          <a:ln w="12700">
            <a:solidFill>
              <a:srgbClr val="0a0d1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365760" y="4814640"/>
            <a:ext cx="841176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d8590"/>
                </a:solidFill>
                <a:latin typeface="Calibri"/>
                <a:ea typeface="Calibri"/>
              </a:rPr>
              <a:t>Software Architectures · Assignment 1 · Bruno Tavares</a:t>
            </a:r>
            <a:endParaRPr b="0" lang="pt-PT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1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1"/>
          <p:cNvSpPr/>
          <p:nvPr/>
        </p:nvSpPr>
        <p:spPr>
          <a:xfrm>
            <a:off x="411480" y="255960"/>
            <a:ext cx="63720" cy="502560"/>
          </a:xfrm>
          <a:prstGeom prst="rect">
            <a:avLst/>
          </a:prstGeom>
          <a:solidFill>
            <a:srgbClr val="e8824a"/>
          </a:solidFill>
          <a:ln w="12700">
            <a:solidFill>
              <a:srgbClr val="e882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 33"/>
          <p:cNvSpPr/>
          <p:nvPr/>
        </p:nvSpPr>
        <p:spPr>
          <a:xfrm>
            <a:off x="548640" y="201240"/>
            <a:ext cx="54860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Calibri"/>
              </a:rPr>
              <a:t>nopCommerce Architecture</a:t>
            </a:r>
            <a:endParaRPr b="0" lang="pt-PT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 35"/>
          <p:cNvSpPr/>
          <p:nvPr/>
        </p:nvSpPr>
        <p:spPr>
          <a:xfrm>
            <a:off x="548640" y="4846680"/>
            <a:ext cx="80463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a8a9a"/>
                </a:solidFill>
                <a:latin typeface="Calibri"/>
                <a:ea typeface="Calibri"/>
              </a:rPr>
              <a:t>Software Architectures · Assignment 1 · Bruno Tavares</a:t>
            </a:r>
            <a:endParaRPr b="0" lang="pt-PT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34"/>
          <p:cNvSpPr/>
          <p:nvPr/>
        </p:nvSpPr>
        <p:spPr>
          <a:xfrm>
            <a:off x="411480" y="960120"/>
            <a:ext cx="4388760" cy="658080"/>
          </a:xfrm>
          <a:prstGeom prst="rect">
            <a:avLst/>
          </a:prstGeom>
          <a:solidFill>
            <a:srgbClr val="12121f"/>
          </a:solidFill>
          <a:ln w="12700">
            <a:solidFill>
              <a:srgbClr val="2a2a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Text 53"/>
          <p:cNvSpPr/>
          <p:nvPr/>
        </p:nvSpPr>
        <p:spPr>
          <a:xfrm>
            <a:off x="576000" y="1014840"/>
            <a:ext cx="4114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c8d8"/>
                </a:solidFill>
                <a:latin typeface="Consolas"/>
                <a:ea typeface="Consolas"/>
              </a:rPr>
              <a:t>Nop.Web</a:t>
            </a:r>
            <a:endParaRPr b="0" lang="pt-PT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Text 54"/>
          <p:cNvSpPr/>
          <p:nvPr/>
        </p:nvSpPr>
        <p:spPr>
          <a:xfrm>
            <a:off x="576000" y="1280160"/>
            <a:ext cx="4114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H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T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T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P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 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e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n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t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r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y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 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p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o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i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n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t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 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—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 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C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o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n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t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r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o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l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l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e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r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s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,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 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V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i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e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w</a:t>
            </a: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s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50"/>
          <p:cNvSpPr/>
          <p:nvPr/>
        </p:nvSpPr>
        <p:spPr>
          <a:xfrm>
            <a:off x="2596680" y="1622880"/>
            <a:ext cx="360" cy="64080"/>
          </a:xfrm>
          <a:prstGeom prst="line">
            <a:avLst/>
          </a:prstGeom>
          <a:ln w="19050">
            <a:solidFill>
              <a:srgbClr val="3a3a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 anchorCtr="1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51"/>
          <p:cNvSpPr/>
          <p:nvPr/>
        </p:nvSpPr>
        <p:spPr>
          <a:xfrm>
            <a:off x="411480" y="1691640"/>
            <a:ext cx="4388760" cy="658080"/>
          </a:xfrm>
          <a:prstGeom prst="rect">
            <a:avLst/>
          </a:prstGeom>
          <a:solidFill>
            <a:srgbClr val="12121f"/>
          </a:solidFill>
          <a:ln w="12700">
            <a:solidFill>
              <a:srgbClr val="2a2a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Text 55"/>
          <p:cNvSpPr/>
          <p:nvPr/>
        </p:nvSpPr>
        <p:spPr>
          <a:xfrm>
            <a:off x="576000" y="1746360"/>
            <a:ext cx="4114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c8d8"/>
                </a:solidFill>
                <a:latin typeface="Consolas"/>
                <a:ea typeface="Consolas"/>
              </a:rPr>
              <a:t>Nop.Web.Framework</a:t>
            </a:r>
            <a:endParaRPr b="0" lang="pt-PT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Text 56"/>
          <p:cNvSpPr/>
          <p:nvPr/>
        </p:nvSpPr>
        <p:spPr>
          <a:xfrm>
            <a:off x="576000" y="2011680"/>
            <a:ext cx="4114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DI, base infrastructure, middleware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52"/>
          <p:cNvSpPr/>
          <p:nvPr/>
        </p:nvSpPr>
        <p:spPr>
          <a:xfrm>
            <a:off x="2596680" y="2354400"/>
            <a:ext cx="360" cy="64080"/>
          </a:xfrm>
          <a:prstGeom prst="line">
            <a:avLst/>
          </a:prstGeom>
          <a:ln w="19050">
            <a:solidFill>
              <a:srgbClr val="3a3a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 anchorCtr="1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53"/>
          <p:cNvSpPr/>
          <p:nvPr/>
        </p:nvSpPr>
        <p:spPr>
          <a:xfrm>
            <a:off x="411480" y="2423160"/>
            <a:ext cx="4388760" cy="658080"/>
          </a:xfrm>
          <a:prstGeom prst="rect">
            <a:avLst/>
          </a:prstGeom>
          <a:solidFill>
            <a:srgbClr val="3d8b7a"/>
          </a:solidFill>
          <a:ln w="25400">
            <a:solidFill>
              <a:srgbClr val="4caf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 57"/>
          <p:cNvSpPr/>
          <p:nvPr/>
        </p:nvSpPr>
        <p:spPr>
          <a:xfrm>
            <a:off x="576000" y="2477880"/>
            <a:ext cx="4114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onsolas"/>
                <a:ea typeface="Consolas"/>
              </a:rPr>
              <a:t>Nop.Services</a:t>
            </a:r>
            <a:endParaRPr b="0" lang="pt-PT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Text 58"/>
          <p:cNvSpPr/>
          <p:nvPr/>
        </p:nvSpPr>
        <p:spPr>
          <a:xfrm>
            <a:off x="576000" y="2743560"/>
            <a:ext cx="4114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0ede7"/>
                </a:solidFill>
                <a:latin typeface="Calibri"/>
                <a:ea typeface="Calibri"/>
              </a:rPr>
              <a:t>Business logic — OrderProcessingService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54"/>
          <p:cNvSpPr/>
          <p:nvPr/>
        </p:nvSpPr>
        <p:spPr>
          <a:xfrm>
            <a:off x="2596680" y="3086280"/>
            <a:ext cx="360" cy="64080"/>
          </a:xfrm>
          <a:prstGeom prst="line">
            <a:avLst/>
          </a:prstGeom>
          <a:ln w="19050">
            <a:solidFill>
              <a:srgbClr val="3a3a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 anchorCtr="1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55"/>
          <p:cNvSpPr/>
          <p:nvPr/>
        </p:nvSpPr>
        <p:spPr>
          <a:xfrm>
            <a:off x="411480" y="3155040"/>
            <a:ext cx="4388760" cy="658080"/>
          </a:xfrm>
          <a:prstGeom prst="rect">
            <a:avLst/>
          </a:prstGeom>
          <a:solidFill>
            <a:srgbClr val="12121f"/>
          </a:solidFill>
          <a:ln w="12700">
            <a:solidFill>
              <a:srgbClr val="2a2a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Text 59"/>
          <p:cNvSpPr/>
          <p:nvPr/>
        </p:nvSpPr>
        <p:spPr>
          <a:xfrm>
            <a:off x="576000" y="3209760"/>
            <a:ext cx="4114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c8d8"/>
                </a:solidFill>
                <a:latin typeface="Consolas"/>
                <a:ea typeface="Consolas"/>
              </a:rPr>
              <a:t>N</a:t>
            </a:r>
            <a:r>
              <a:rPr b="1" lang="en-US" sz="1300" spc="-1" strike="noStrike">
                <a:solidFill>
                  <a:srgbClr val="c8c8d8"/>
                </a:solidFill>
                <a:latin typeface="Consolas"/>
                <a:ea typeface="Consolas"/>
              </a:rPr>
              <a:t>o</a:t>
            </a:r>
            <a:r>
              <a:rPr b="1" lang="en-US" sz="1300" spc="-1" strike="noStrike">
                <a:solidFill>
                  <a:srgbClr val="c8c8d8"/>
                </a:solidFill>
                <a:latin typeface="Consolas"/>
                <a:ea typeface="Consolas"/>
              </a:rPr>
              <a:t>p</a:t>
            </a:r>
            <a:r>
              <a:rPr b="1" lang="en-US" sz="1300" spc="-1" strike="noStrike">
                <a:solidFill>
                  <a:srgbClr val="c8c8d8"/>
                </a:solidFill>
                <a:latin typeface="Consolas"/>
                <a:ea typeface="Consolas"/>
              </a:rPr>
              <a:t>.</a:t>
            </a:r>
            <a:r>
              <a:rPr b="1" lang="en-US" sz="1300" spc="-1" strike="noStrike">
                <a:solidFill>
                  <a:srgbClr val="c8c8d8"/>
                </a:solidFill>
                <a:latin typeface="Consolas"/>
                <a:ea typeface="Consolas"/>
              </a:rPr>
              <a:t>D</a:t>
            </a:r>
            <a:r>
              <a:rPr b="1" lang="en-US" sz="1300" spc="-1" strike="noStrike">
                <a:solidFill>
                  <a:srgbClr val="c8c8d8"/>
                </a:solidFill>
                <a:latin typeface="Consolas"/>
                <a:ea typeface="Consolas"/>
              </a:rPr>
              <a:t>a</a:t>
            </a:r>
            <a:r>
              <a:rPr b="1" lang="en-US" sz="1300" spc="-1" strike="noStrike">
                <a:solidFill>
                  <a:srgbClr val="c8c8d8"/>
                </a:solidFill>
                <a:latin typeface="Consolas"/>
                <a:ea typeface="Consolas"/>
              </a:rPr>
              <a:t>t</a:t>
            </a:r>
            <a:r>
              <a:rPr b="1" lang="en-US" sz="1300" spc="-1" strike="noStrike">
                <a:solidFill>
                  <a:srgbClr val="c8c8d8"/>
                </a:solidFill>
                <a:latin typeface="Consolas"/>
                <a:ea typeface="Consolas"/>
              </a:rPr>
              <a:t>a</a:t>
            </a:r>
            <a:endParaRPr b="0" lang="pt-PT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Text 60"/>
          <p:cNvSpPr/>
          <p:nvPr/>
        </p:nvSpPr>
        <p:spPr>
          <a:xfrm>
            <a:off x="576000" y="3475080"/>
            <a:ext cx="4114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Repositories, EF Core, migrations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56"/>
          <p:cNvSpPr/>
          <p:nvPr/>
        </p:nvSpPr>
        <p:spPr>
          <a:xfrm>
            <a:off x="2596680" y="3817800"/>
            <a:ext cx="360" cy="64080"/>
          </a:xfrm>
          <a:prstGeom prst="line">
            <a:avLst/>
          </a:prstGeom>
          <a:ln w="19050">
            <a:solidFill>
              <a:srgbClr val="3a3a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 anchorCtr="1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57"/>
          <p:cNvSpPr/>
          <p:nvPr/>
        </p:nvSpPr>
        <p:spPr>
          <a:xfrm>
            <a:off x="411480" y="3886560"/>
            <a:ext cx="4388760" cy="658080"/>
          </a:xfrm>
          <a:prstGeom prst="rect">
            <a:avLst/>
          </a:prstGeom>
          <a:solidFill>
            <a:srgbClr val="12121f"/>
          </a:solidFill>
          <a:ln w="12700">
            <a:solidFill>
              <a:srgbClr val="2a2a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Text 61"/>
          <p:cNvSpPr/>
          <p:nvPr/>
        </p:nvSpPr>
        <p:spPr>
          <a:xfrm>
            <a:off x="576000" y="3941280"/>
            <a:ext cx="4114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c8d8"/>
                </a:solidFill>
                <a:latin typeface="Consolas"/>
                <a:ea typeface="Consolas"/>
              </a:rPr>
              <a:t>Nop.Core</a:t>
            </a:r>
            <a:endParaRPr b="0" lang="pt-PT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Text 62"/>
          <p:cNvSpPr/>
          <p:nvPr/>
        </p:nvSpPr>
        <p:spPr>
          <a:xfrm>
            <a:off x="576000" y="4206600"/>
            <a:ext cx="4114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a8a9a"/>
                </a:solidFill>
                <a:latin typeface="Calibri"/>
                <a:ea typeface="Calibri"/>
              </a:rPr>
              <a:t>Entities, interfaces, events (base)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Text 63"/>
          <p:cNvSpPr/>
          <p:nvPr/>
        </p:nvSpPr>
        <p:spPr>
          <a:xfrm>
            <a:off x="411480" y="466380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58"/>
          <p:cNvSpPr/>
          <p:nvPr/>
        </p:nvSpPr>
        <p:spPr>
          <a:xfrm>
            <a:off x="5166360" y="960120"/>
            <a:ext cx="3748680" cy="3932280"/>
          </a:xfrm>
          <a:prstGeom prst="rect">
            <a:avLst/>
          </a:prstGeom>
          <a:solidFill>
            <a:srgbClr val="12121f"/>
          </a:solidFill>
          <a:ln w="12700">
            <a:solidFill>
              <a:srgbClr val="2a2a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Text 64"/>
          <p:cNvSpPr/>
          <p:nvPr/>
        </p:nvSpPr>
        <p:spPr>
          <a:xfrm>
            <a:off x="5349240" y="1051560"/>
            <a:ext cx="3382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4caf96"/>
                </a:solidFill>
                <a:latin typeface="Calibri"/>
                <a:ea typeface="Calibri"/>
              </a:rPr>
              <a:t>Why instrument here?</a:t>
            </a:r>
            <a:endParaRPr b="0" lang="pt-PT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59"/>
          <p:cNvSpPr/>
          <p:nvPr/>
        </p:nvSpPr>
        <p:spPr>
          <a:xfrm>
            <a:off x="4846320" y="2752560"/>
            <a:ext cx="274320" cy="360"/>
          </a:xfrm>
          <a:prstGeom prst="line">
            <a:avLst/>
          </a:prstGeom>
          <a:ln w="25400">
            <a:solidFill>
              <a:srgbClr val="4caf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60"/>
          <p:cNvSpPr/>
          <p:nvPr/>
        </p:nvSpPr>
        <p:spPr>
          <a:xfrm>
            <a:off x="5303520" y="1508760"/>
            <a:ext cx="3474360" cy="475200"/>
          </a:xfrm>
          <a:prstGeom prst="rect">
            <a:avLst/>
          </a:prstGeom>
          <a:solidFill>
            <a:srgbClr val="1c1c30"/>
          </a:solidFill>
          <a:ln w="12700">
            <a:solidFill>
              <a:srgbClr val="2e2e4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Text 65"/>
          <p:cNvSpPr/>
          <p:nvPr/>
        </p:nvSpPr>
        <p:spPr>
          <a:xfrm>
            <a:off x="5367600" y="1563480"/>
            <a:ext cx="3346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4caf96"/>
                </a:solidFill>
                <a:latin typeface="Calibri"/>
                <a:ea typeface="Calibri"/>
              </a:rPr>
              <a:t>→  </a:t>
            </a:r>
            <a:r>
              <a:rPr b="0" lang="en-US" sz="1000" spc="-1" strike="noStrike">
                <a:solidFill>
                  <a:srgbClr val="c0c0d0"/>
                </a:solidFill>
                <a:latin typeface="Calibri"/>
                <a:ea typeface="Calibri"/>
              </a:rPr>
              <a:t>ASP.NET auto-instrumentation already covers HTTP spans in Nop.Web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Shape 61"/>
          <p:cNvSpPr/>
          <p:nvPr/>
        </p:nvSpPr>
        <p:spPr>
          <a:xfrm>
            <a:off x="5303520" y="2075760"/>
            <a:ext cx="3474360" cy="475200"/>
          </a:xfrm>
          <a:prstGeom prst="rect">
            <a:avLst/>
          </a:prstGeom>
          <a:solidFill>
            <a:srgbClr val="1c1c30"/>
          </a:solidFill>
          <a:ln w="12700">
            <a:solidFill>
              <a:srgbClr val="2e2e4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66"/>
          <p:cNvSpPr/>
          <p:nvPr/>
        </p:nvSpPr>
        <p:spPr>
          <a:xfrm>
            <a:off x="5367600" y="2130480"/>
            <a:ext cx="3346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4caf96"/>
                </a:solidFill>
                <a:latin typeface="Calibri"/>
                <a:ea typeface="Calibri"/>
              </a:rPr>
              <a:t>→  </a:t>
            </a:r>
            <a:r>
              <a:rPr b="0" lang="en-US" sz="1000" spc="-1" strike="noStrike">
                <a:solidFill>
                  <a:srgbClr val="c0c0d0"/>
                </a:solidFill>
                <a:latin typeface="Calibri"/>
                <a:ea typeface="Calibri"/>
              </a:rPr>
              <a:t>SqlClient auto-instrumentation covers SQL queries in Nop.Data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Shape 62"/>
          <p:cNvSpPr/>
          <p:nvPr/>
        </p:nvSpPr>
        <p:spPr>
          <a:xfrm>
            <a:off x="5303520" y="2643120"/>
            <a:ext cx="3474360" cy="475200"/>
          </a:xfrm>
          <a:prstGeom prst="rect">
            <a:avLst/>
          </a:prstGeom>
          <a:solidFill>
            <a:srgbClr val="1c1c30"/>
          </a:solidFill>
          <a:ln w="12700">
            <a:solidFill>
              <a:srgbClr val="2e2e4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 67"/>
          <p:cNvSpPr/>
          <p:nvPr/>
        </p:nvSpPr>
        <p:spPr>
          <a:xfrm>
            <a:off x="5367600" y="2697840"/>
            <a:ext cx="3346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4caf96"/>
                </a:solidFill>
                <a:latin typeface="Calibri"/>
                <a:ea typeface="Calibri"/>
              </a:rPr>
              <a:t>→  </a:t>
            </a:r>
            <a:r>
              <a:rPr b="0" lang="en-US" sz="1000" spc="-1" strike="noStrike">
                <a:solidFill>
                  <a:srgbClr val="c0c0d0"/>
                </a:solidFill>
                <a:latin typeface="Calibri"/>
                <a:ea typeface="Calibri"/>
              </a:rPr>
              <a:t>Nop.Services is the gap — payment, persistence, events are orchestrated here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Shape 63"/>
          <p:cNvSpPr/>
          <p:nvPr/>
        </p:nvSpPr>
        <p:spPr>
          <a:xfrm>
            <a:off x="5303520" y="3209760"/>
            <a:ext cx="3474360" cy="475200"/>
          </a:xfrm>
          <a:prstGeom prst="rect">
            <a:avLst/>
          </a:prstGeom>
          <a:solidFill>
            <a:srgbClr val="1c1c30"/>
          </a:solidFill>
          <a:ln w="12700">
            <a:solidFill>
              <a:srgbClr val="2e2e4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68"/>
          <p:cNvSpPr/>
          <p:nvPr/>
        </p:nvSpPr>
        <p:spPr>
          <a:xfrm>
            <a:off x="5367600" y="3264840"/>
            <a:ext cx="3346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4caf96"/>
                </a:solidFill>
                <a:latin typeface="Calibri"/>
                <a:ea typeface="Calibri"/>
              </a:rPr>
              <a:t>→  </a:t>
            </a:r>
            <a:r>
              <a:rPr b="0" lang="en-US" sz="1000" spc="-1" strike="noStrike">
                <a:solidFill>
                  <a:srgbClr val="c0c0d0"/>
                </a:solidFill>
                <a:latin typeface="Calibri"/>
                <a:ea typeface="Calibri"/>
              </a:rPr>
              <a:t>PlaceOrderAsync is the single method that coordinates the entire checkout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Shape 64"/>
          <p:cNvSpPr/>
          <p:nvPr/>
        </p:nvSpPr>
        <p:spPr>
          <a:xfrm>
            <a:off x="5303520" y="3776760"/>
            <a:ext cx="3474360" cy="475200"/>
          </a:xfrm>
          <a:prstGeom prst="rect">
            <a:avLst/>
          </a:prstGeom>
          <a:solidFill>
            <a:srgbClr val="1c1c30"/>
          </a:solidFill>
          <a:ln w="12700">
            <a:solidFill>
              <a:srgbClr val="2e2e4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69"/>
          <p:cNvSpPr/>
          <p:nvPr/>
        </p:nvSpPr>
        <p:spPr>
          <a:xfrm>
            <a:off x="5367600" y="3831840"/>
            <a:ext cx="3346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4caf96"/>
                </a:solidFill>
                <a:latin typeface="Calibri"/>
                <a:ea typeface="Calibri"/>
              </a:rPr>
              <a:t>→  </a:t>
            </a:r>
            <a:r>
              <a:rPr b="0" lang="en-US" sz="1000" spc="-1" strike="noStrike">
                <a:solidFill>
                  <a:srgbClr val="c0c0d0"/>
                </a:solidFill>
                <a:latin typeface="Calibri"/>
                <a:ea typeface="Calibri"/>
              </a:rPr>
              <a:t>Surgical: 3 files changed, business logic untouched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1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hape 0"/>
          <p:cNvSpPr/>
          <p:nvPr/>
        </p:nvSpPr>
        <p:spPr>
          <a:xfrm>
            <a:off x="365760" y="274320"/>
            <a:ext cx="45000" cy="52956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1"/>
          <p:cNvSpPr/>
          <p:nvPr/>
        </p:nvSpPr>
        <p:spPr>
          <a:xfrm>
            <a:off x="502920" y="255960"/>
            <a:ext cx="83203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e6edf3"/>
                </a:solidFill>
                <a:latin typeface="Calibri"/>
                <a:ea typeface="Calibri"/>
              </a:rPr>
              <a:t>Instrumentation Decision</a:t>
            </a:r>
            <a:endParaRPr b="0" lang="pt-PT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Shape 2"/>
          <p:cNvSpPr/>
          <p:nvPr/>
        </p:nvSpPr>
        <p:spPr>
          <a:xfrm>
            <a:off x="365760" y="877680"/>
            <a:ext cx="8411760" cy="1944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4840" bIns="-2484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Shape 3"/>
          <p:cNvSpPr/>
          <p:nvPr/>
        </p:nvSpPr>
        <p:spPr>
          <a:xfrm>
            <a:off x="0" y="4906080"/>
            <a:ext cx="9143280" cy="236880"/>
          </a:xfrm>
          <a:prstGeom prst="rect">
            <a:avLst/>
          </a:prstGeom>
          <a:solidFill>
            <a:srgbClr val="0a0d12"/>
          </a:solidFill>
          <a:ln w="12700">
            <a:solidFill>
              <a:srgbClr val="0a0d1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Text 4"/>
          <p:cNvSpPr/>
          <p:nvPr/>
        </p:nvSpPr>
        <p:spPr>
          <a:xfrm>
            <a:off x="365760" y="4906080"/>
            <a:ext cx="841176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7d8590"/>
                </a:solidFill>
                <a:latin typeface="Calibri"/>
                <a:ea typeface="Calibri"/>
              </a:rPr>
              <a:t>Software Architectures · Assignment 1 · Bruno Tavares</a:t>
            </a:r>
            <a:endParaRPr b="0" lang="pt-PT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Shape 5"/>
          <p:cNvSpPr/>
          <p:nvPr/>
        </p:nvSpPr>
        <p:spPr>
          <a:xfrm>
            <a:off x="365760" y="1005840"/>
            <a:ext cx="1782360" cy="41976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Text 6"/>
          <p:cNvSpPr/>
          <p:nvPr/>
        </p:nvSpPr>
        <p:spPr>
          <a:xfrm>
            <a:off x="365760" y="1005840"/>
            <a:ext cx="17823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edf3"/>
                </a:solidFill>
                <a:latin typeface="Calibri"/>
                <a:ea typeface="Calibri"/>
              </a:rPr>
              <a:t>Browser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Shape 7"/>
          <p:cNvSpPr/>
          <p:nvPr/>
        </p:nvSpPr>
        <p:spPr>
          <a:xfrm>
            <a:off x="2148840" y="1195920"/>
            <a:ext cx="127440" cy="39600"/>
          </a:xfrm>
          <a:prstGeom prst="rect">
            <a:avLst/>
          </a:prstGeom>
          <a:solidFill>
            <a:srgbClr val="7d8590"/>
          </a:solidFill>
          <a:ln w="12700">
            <a:solidFill>
              <a:srgbClr val="7d85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680" bIns="-468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Shape 8"/>
          <p:cNvSpPr/>
          <p:nvPr/>
        </p:nvSpPr>
        <p:spPr>
          <a:xfrm>
            <a:off x="2240280" y="1170360"/>
            <a:ext cx="36000" cy="90720"/>
          </a:xfrm>
          <a:prstGeom prst="rect">
            <a:avLst/>
          </a:prstGeom>
          <a:solidFill>
            <a:srgbClr val="7d8590"/>
          </a:solidFill>
          <a:ln w="12700">
            <a:solidFill>
              <a:srgbClr val="7d85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Shape 9"/>
          <p:cNvSpPr/>
          <p:nvPr/>
        </p:nvSpPr>
        <p:spPr>
          <a:xfrm>
            <a:off x="2277000" y="1005840"/>
            <a:ext cx="1782360" cy="41976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Text 10"/>
          <p:cNvSpPr/>
          <p:nvPr/>
        </p:nvSpPr>
        <p:spPr>
          <a:xfrm>
            <a:off x="2277000" y="1005840"/>
            <a:ext cx="17823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edf3"/>
                </a:solidFill>
                <a:latin typeface="Calibri"/>
                <a:ea typeface="Calibri"/>
              </a:rPr>
              <a:t>CheckoutController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Shape 11"/>
          <p:cNvSpPr/>
          <p:nvPr/>
        </p:nvSpPr>
        <p:spPr>
          <a:xfrm>
            <a:off x="4060080" y="1195920"/>
            <a:ext cx="127440" cy="39600"/>
          </a:xfrm>
          <a:prstGeom prst="rect">
            <a:avLst/>
          </a:prstGeom>
          <a:solidFill>
            <a:srgbClr val="7d8590"/>
          </a:solidFill>
          <a:ln w="12700">
            <a:solidFill>
              <a:srgbClr val="7d85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680" bIns="-468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Shape 12"/>
          <p:cNvSpPr/>
          <p:nvPr/>
        </p:nvSpPr>
        <p:spPr>
          <a:xfrm>
            <a:off x="4151520" y="1170360"/>
            <a:ext cx="36000" cy="90720"/>
          </a:xfrm>
          <a:prstGeom prst="rect">
            <a:avLst/>
          </a:prstGeom>
          <a:solidFill>
            <a:srgbClr val="7d8590"/>
          </a:solidFill>
          <a:ln w="12700">
            <a:solidFill>
              <a:srgbClr val="7d85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Shape 13"/>
          <p:cNvSpPr/>
          <p:nvPr/>
        </p:nvSpPr>
        <p:spPr>
          <a:xfrm>
            <a:off x="4187880" y="1005840"/>
            <a:ext cx="1782360" cy="41976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Text 14"/>
          <p:cNvSpPr/>
          <p:nvPr/>
        </p:nvSpPr>
        <p:spPr>
          <a:xfrm>
            <a:off x="4187880" y="1005840"/>
            <a:ext cx="17823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111318"/>
                </a:solidFill>
                <a:latin typeface="Calibri"/>
                <a:ea typeface="Calibri"/>
              </a:rPr>
              <a:t>OrderProcessingService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Shape 15"/>
          <p:cNvSpPr/>
          <p:nvPr/>
        </p:nvSpPr>
        <p:spPr>
          <a:xfrm>
            <a:off x="5970960" y="1195920"/>
            <a:ext cx="127440" cy="39600"/>
          </a:xfrm>
          <a:prstGeom prst="rect">
            <a:avLst/>
          </a:prstGeom>
          <a:solidFill>
            <a:srgbClr val="7d8590"/>
          </a:solidFill>
          <a:ln w="12700">
            <a:solidFill>
              <a:srgbClr val="7d85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680" bIns="-468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Shape 16"/>
          <p:cNvSpPr/>
          <p:nvPr/>
        </p:nvSpPr>
        <p:spPr>
          <a:xfrm>
            <a:off x="6062400" y="1170360"/>
            <a:ext cx="36000" cy="90720"/>
          </a:xfrm>
          <a:prstGeom prst="rect">
            <a:avLst/>
          </a:prstGeom>
          <a:solidFill>
            <a:srgbClr val="7d8590"/>
          </a:solidFill>
          <a:ln w="12700">
            <a:solidFill>
              <a:srgbClr val="7d85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Shape 17"/>
          <p:cNvSpPr/>
          <p:nvPr/>
        </p:nvSpPr>
        <p:spPr>
          <a:xfrm>
            <a:off x="6099120" y="1005840"/>
            <a:ext cx="1782360" cy="41976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Text 18"/>
          <p:cNvSpPr/>
          <p:nvPr/>
        </p:nvSpPr>
        <p:spPr>
          <a:xfrm>
            <a:off x="6099120" y="1005840"/>
            <a:ext cx="17823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edf3"/>
                </a:solidFill>
                <a:latin typeface="Calibri"/>
                <a:ea typeface="Calibri"/>
              </a:rPr>
              <a:t>SQL Server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Shape 19"/>
          <p:cNvSpPr/>
          <p:nvPr/>
        </p:nvSpPr>
        <p:spPr>
          <a:xfrm>
            <a:off x="365760" y="1572840"/>
            <a:ext cx="8411760" cy="1944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4840" bIns="-2484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Shape 20"/>
          <p:cNvSpPr/>
          <p:nvPr/>
        </p:nvSpPr>
        <p:spPr>
          <a:xfrm>
            <a:off x="365760" y="1901880"/>
            <a:ext cx="49680" cy="4968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Text 21"/>
          <p:cNvSpPr/>
          <p:nvPr/>
        </p:nvSpPr>
        <p:spPr>
          <a:xfrm>
            <a:off x="530280" y="1719000"/>
            <a:ext cx="8228880" cy="69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6edf3"/>
                </a:solidFill>
                <a:latin typeface="Calibri"/>
                <a:ea typeface="Calibri"/>
              </a:rPr>
              <a:t>Chose "Customer places an order" — the most business-critical flow; if checkout fails, the store loses money</a:t>
            </a:r>
            <a:endParaRPr b="0" lang="pt-PT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Shape 22"/>
          <p:cNvSpPr/>
          <p:nvPr/>
        </p:nvSpPr>
        <p:spPr>
          <a:xfrm>
            <a:off x="365760" y="2670480"/>
            <a:ext cx="49680" cy="4968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Text 23"/>
          <p:cNvSpPr/>
          <p:nvPr/>
        </p:nvSpPr>
        <p:spPr>
          <a:xfrm>
            <a:off x="530280" y="2487240"/>
            <a:ext cx="8228880" cy="69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6edf3"/>
                </a:solidFill>
                <a:latin typeface="Calibri"/>
                <a:ea typeface="Calibri"/>
              </a:rPr>
              <a:t>Instrumented at OrderProcessingService.PlaceOrderAsync — where payment, persistence, notifications and events are orchestrated in a single method</a:t>
            </a:r>
            <a:endParaRPr b="0" lang="pt-PT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Shape 24"/>
          <p:cNvSpPr/>
          <p:nvPr/>
        </p:nvSpPr>
        <p:spPr>
          <a:xfrm>
            <a:off x="365760" y="3438360"/>
            <a:ext cx="49680" cy="4968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 25"/>
          <p:cNvSpPr/>
          <p:nvPr/>
        </p:nvSpPr>
        <p:spPr>
          <a:xfrm>
            <a:off x="530280" y="3255480"/>
            <a:ext cx="8228880" cy="69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6edf3"/>
                </a:solidFill>
                <a:latin typeface="Calibri"/>
                <a:ea typeface="Calibri"/>
              </a:rPr>
              <a:t>ASP.NET auto-instrumentation covers HTTP. SqlClient covers SQL. I only needed to instrument what's in between</a:t>
            </a:r>
            <a:endParaRPr b="0" lang="pt-PT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Shape 26"/>
          <p:cNvSpPr/>
          <p:nvPr/>
        </p:nvSpPr>
        <p:spPr>
          <a:xfrm>
            <a:off x="365760" y="4206600"/>
            <a:ext cx="49680" cy="4968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Text 27"/>
          <p:cNvSpPr/>
          <p:nvPr/>
        </p:nvSpPr>
        <p:spPr>
          <a:xfrm>
            <a:off x="530280" y="4023720"/>
            <a:ext cx="8228880" cy="69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6edf3"/>
                </a:solidFill>
                <a:latin typeface="Calibri"/>
                <a:ea typeface="Calibri"/>
              </a:rPr>
              <a:t>Surgical approach: 3 files changed (OrderProcessingService.cs, Program.cs, NopTelemetryConstants.cs), business logic untouched, zero overhead if OTel SDK is absent</a:t>
            </a:r>
            <a:endParaRPr b="0" lang="pt-PT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1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Shape 0"/>
          <p:cNvSpPr/>
          <p:nvPr/>
        </p:nvSpPr>
        <p:spPr>
          <a:xfrm>
            <a:off x="365760" y="274320"/>
            <a:ext cx="45000" cy="52956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Text 1"/>
          <p:cNvSpPr/>
          <p:nvPr/>
        </p:nvSpPr>
        <p:spPr>
          <a:xfrm>
            <a:off x="502920" y="255960"/>
            <a:ext cx="83203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e6edf3"/>
                </a:solidFill>
                <a:latin typeface="Calibri"/>
                <a:ea typeface="Calibri"/>
              </a:rPr>
              <a:t>End-to-End Tracing</a:t>
            </a:r>
            <a:endParaRPr b="0" lang="pt-PT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Shape 2"/>
          <p:cNvSpPr/>
          <p:nvPr/>
        </p:nvSpPr>
        <p:spPr>
          <a:xfrm>
            <a:off x="365760" y="877680"/>
            <a:ext cx="8411760" cy="1944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4840" bIns="-2484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Shape 3"/>
          <p:cNvSpPr/>
          <p:nvPr/>
        </p:nvSpPr>
        <p:spPr>
          <a:xfrm>
            <a:off x="0" y="4906080"/>
            <a:ext cx="9143280" cy="236880"/>
          </a:xfrm>
          <a:prstGeom prst="rect">
            <a:avLst/>
          </a:prstGeom>
          <a:solidFill>
            <a:srgbClr val="0a0d12"/>
          </a:solidFill>
          <a:ln w="12700">
            <a:solidFill>
              <a:srgbClr val="0a0d1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Text 4"/>
          <p:cNvSpPr/>
          <p:nvPr/>
        </p:nvSpPr>
        <p:spPr>
          <a:xfrm>
            <a:off x="365760" y="4906080"/>
            <a:ext cx="841176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7d8590"/>
                </a:solidFill>
                <a:latin typeface="Calibri"/>
                <a:ea typeface="Calibri"/>
              </a:rPr>
              <a:t>Software Architectures · Assignment 1 · Bruno Tavares</a:t>
            </a:r>
            <a:endParaRPr b="0" lang="pt-PT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 5"/>
          <p:cNvSpPr/>
          <p:nvPr/>
        </p:nvSpPr>
        <p:spPr>
          <a:xfrm>
            <a:off x="384120" y="996840"/>
            <a:ext cx="649152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7d8590"/>
                </a:solidFill>
                <a:latin typeface="Consolas"/>
                <a:ea typeface="Consolas"/>
              </a:rPr>
              <a:t>POST /checkout/OpcConfirmOrder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Shape 6"/>
          <p:cNvSpPr/>
          <p:nvPr/>
        </p:nvSpPr>
        <p:spPr>
          <a:xfrm>
            <a:off x="6949440" y="1014840"/>
            <a:ext cx="1828080" cy="119520"/>
          </a:xfrm>
          <a:prstGeom prst="rect">
            <a:avLst/>
          </a:prstGeom>
          <a:solidFill>
            <a:srgbClr val="191e25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Text 7"/>
          <p:cNvSpPr/>
          <p:nvPr/>
        </p:nvSpPr>
        <p:spPr>
          <a:xfrm>
            <a:off x="6949440" y="1014840"/>
            <a:ext cx="182808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d8590"/>
                </a:solidFill>
                <a:latin typeface="Calibri"/>
                <a:ea typeface="Calibri"/>
              </a:rPr>
              <a:t>auto - ASP.NET</a:t>
            </a:r>
            <a:endParaRPr b="0" lang="pt-PT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Shape 8"/>
          <p:cNvSpPr/>
          <p:nvPr/>
        </p:nvSpPr>
        <p:spPr>
          <a:xfrm>
            <a:off x="429840" y="1305000"/>
            <a:ext cx="145440" cy="1404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0240" bIns="-3024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 9"/>
          <p:cNvSpPr/>
          <p:nvPr/>
        </p:nvSpPr>
        <p:spPr>
          <a:xfrm>
            <a:off x="612720" y="1226520"/>
            <a:ext cx="629028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nsolas"/>
                <a:ea typeface="Consolas"/>
              </a:rPr>
              <a:t>checkout.place_order</a:t>
            </a:r>
            <a:endParaRPr b="0" lang="pt-PT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Shape 10"/>
          <p:cNvSpPr/>
          <p:nvPr/>
        </p:nvSpPr>
        <p:spPr>
          <a:xfrm>
            <a:off x="6949440" y="1244880"/>
            <a:ext cx="1828080" cy="119520"/>
          </a:xfrm>
          <a:prstGeom prst="rect">
            <a:avLst/>
          </a:prstGeom>
          <a:solidFill>
            <a:srgbClr val="1a2620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Text 11"/>
          <p:cNvSpPr/>
          <p:nvPr/>
        </p:nvSpPr>
        <p:spPr>
          <a:xfrm>
            <a:off x="6949440" y="1244880"/>
            <a:ext cx="182808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3fb950"/>
                </a:solidFill>
                <a:latin typeface="Calibri"/>
                <a:ea typeface="Calibri"/>
              </a:rPr>
              <a:t>custom</a:t>
            </a:r>
            <a:endParaRPr b="0" lang="pt-PT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Shape 12"/>
          <p:cNvSpPr/>
          <p:nvPr/>
        </p:nvSpPr>
        <p:spPr>
          <a:xfrm>
            <a:off x="658440" y="1534680"/>
            <a:ext cx="145440" cy="1404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0240" bIns="-3024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 13"/>
          <p:cNvSpPr/>
          <p:nvPr/>
        </p:nvSpPr>
        <p:spPr>
          <a:xfrm>
            <a:off x="841320" y="1456560"/>
            <a:ext cx="608904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nsolas"/>
                <a:ea typeface="Consolas"/>
              </a:rPr>
              <a:t>checkout.process_payment</a:t>
            </a:r>
            <a:endParaRPr b="0" lang="pt-PT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Shape 14"/>
          <p:cNvSpPr/>
          <p:nvPr/>
        </p:nvSpPr>
        <p:spPr>
          <a:xfrm>
            <a:off x="6949440" y="1474920"/>
            <a:ext cx="1828080" cy="119520"/>
          </a:xfrm>
          <a:prstGeom prst="rect">
            <a:avLst/>
          </a:prstGeom>
          <a:solidFill>
            <a:srgbClr val="1a2620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 15"/>
          <p:cNvSpPr/>
          <p:nvPr/>
        </p:nvSpPr>
        <p:spPr>
          <a:xfrm>
            <a:off x="6949440" y="1474920"/>
            <a:ext cx="182808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3fb950"/>
                </a:solidFill>
                <a:latin typeface="Calibri"/>
                <a:ea typeface="Calibri"/>
              </a:rPr>
              <a:t>custom</a:t>
            </a:r>
            <a:endParaRPr b="0" lang="pt-PT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Shape 16"/>
          <p:cNvSpPr/>
          <p:nvPr/>
        </p:nvSpPr>
        <p:spPr>
          <a:xfrm>
            <a:off x="658440" y="1764720"/>
            <a:ext cx="145440" cy="1404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0240" bIns="-3024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17"/>
          <p:cNvSpPr/>
          <p:nvPr/>
        </p:nvSpPr>
        <p:spPr>
          <a:xfrm>
            <a:off x="841320" y="1686240"/>
            <a:ext cx="608904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nsolas"/>
                <a:ea typeface="Consolas"/>
              </a:rPr>
              <a:t>checkout.save_order</a:t>
            </a:r>
            <a:endParaRPr b="0" lang="pt-PT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Shape 18"/>
          <p:cNvSpPr/>
          <p:nvPr/>
        </p:nvSpPr>
        <p:spPr>
          <a:xfrm>
            <a:off x="6949440" y="1704600"/>
            <a:ext cx="1828080" cy="119520"/>
          </a:xfrm>
          <a:prstGeom prst="rect">
            <a:avLst/>
          </a:prstGeom>
          <a:solidFill>
            <a:srgbClr val="1a2620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 19"/>
          <p:cNvSpPr/>
          <p:nvPr/>
        </p:nvSpPr>
        <p:spPr>
          <a:xfrm>
            <a:off x="6949440" y="1704600"/>
            <a:ext cx="182808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3fb950"/>
                </a:solidFill>
                <a:latin typeface="Calibri"/>
                <a:ea typeface="Calibri"/>
              </a:rPr>
              <a:t>custom</a:t>
            </a:r>
            <a:endParaRPr b="0" lang="pt-PT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Shape 20"/>
          <p:cNvSpPr/>
          <p:nvPr/>
        </p:nvSpPr>
        <p:spPr>
          <a:xfrm>
            <a:off x="887040" y="1994760"/>
            <a:ext cx="145440" cy="1404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0240" bIns="-3024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 21"/>
          <p:cNvSpPr/>
          <p:nvPr/>
        </p:nvSpPr>
        <p:spPr>
          <a:xfrm>
            <a:off x="1069920" y="1916280"/>
            <a:ext cx="588816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7d8590"/>
                </a:solidFill>
                <a:latin typeface="Consolas"/>
                <a:ea typeface="Consolas"/>
              </a:rPr>
              <a:t>SQL queries</a:t>
            </a:r>
            <a:endParaRPr b="0" lang="pt-PT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Shape 22"/>
          <p:cNvSpPr/>
          <p:nvPr/>
        </p:nvSpPr>
        <p:spPr>
          <a:xfrm>
            <a:off x="6949440" y="1934640"/>
            <a:ext cx="1828080" cy="119520"/>
          </a:xfrm>
          <a:prstGeom prst="rect">
            <a:avLst/>
          </a:prstGeom>
          <a:solidFill>
            <a:srgbClr val="191e25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 23"/>
          <p:cNvSpPr/>
          <p:nvPr/>
        </p:nvSpPr>
        <p:spPr>
          <a:xfrm>
            <a:off x="6949440" y="1934640"/>
            <a:ext cx="182808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d8590"/>
                </a:solidFill>
                <a:latin typeface="Calibri"/>
                <a:ea typeface="Calibri"/>
              </a:rPr>
              <a:t>auto - SqlClient</a:t>
            </a:r>
            <a:endParaRPr b="0" lang="pt-PT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Shape 24"/>
          <p:cNvSpPr/>
          <p:nvPr/>
        </p:nvSpPr>
        <p:spPr>
          <a:xfrm>
            <a:off x="658440" y="2224440"/>
            <a:ext cx="145440" cy="1404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0240" bIns="-3024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Text 25"/>
          <p:cNvSpPr/>
          <p:nvPr/>
        </p:nvSpPr>
        <p:spPr>
          <a:xfrm>
            <a:off x="841320" y="2146320"/>
            <a:ext cx="608904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nsolas"/>
                <a:ea typeface="Consolas"/>
              </a:rPr>
              <a:t>checkout.send_notifications</a:t>
            </a:r>
            <a:endParaRPr b="0" lang="pt-PT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Shape 26"/>
          <p:cNvSpPr/>
          <p:nvPr/>
        </p:nvSpPr>
        <p:spPr>
          <a:xfrm>
            <a:off x="6949440" y="2164680"/>
            <a:ext cx="1828080" cy="119520"/>
          </a:xfrm>
          <a:prstGeom prst="rect">
            <a:avLst/>
          </a:prstGeom>
          <a:solidFill>
            <a:srgbClr val="1a2620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Text 27"/>
          <p:cNvSpPr/>
          <p:nvPr/>
        </p:nvSpPr>
        <p:spPr>
          <a:xfrm>
            <a:off x="6949440" y="2164680"/>
            <a:ext cx="182808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3fb950"/>
                </a:solidFill>
                <a:latin typeface="Calibri"/>
                <a:ea typeface="Calibri"/>
              </a:rPr>
              <a:t>custom</a:t>
            </a:r>
            <a:endParaRPr b="0" lang="pt-PT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Shape 28"/>
          <p:cNvSpPr/>
          <p:nvPr/>
        </p:nvSpPr>
        <p:spPr>
          <a:xfrm>
            <a:off x="658440" y="2454480"/>
            <a:ext cx="145440" cy="1404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0240" bIns="-3024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 29"/>
          <p:cNvSpPr/>
          <p:nvPr/>
        </p:nvSpPr>
        <p:spPr>
          <a:xfrm>
            <a:off x="841320" y="2376000"/>
            <a:ext cx="608904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nsolas"/>
                <a:ea typeface="Consolas"/>
              </a:rPr>
              <a:t>checkout.publish_event</a:t>
            </a:r>
            <a:endParaRPr b="0" lang="pt-PT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Shape 30"/>
          <p:cNvSpPr/>
          <p:nvPr/>
        </p:nvSpPr>
        <p:spPr>
          <a:xfrm>
            <a:off x="6949440" y="2394360"/>
            <a:ext cx="1828080" cy="119520"/>
          </a:xfrm>
          <a:prstGeom prst="rect">
            <a:avLst/>
          </a:prstGeom>
          <a:solidFill>
            <a:srgbClr val="1a2620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 31"/>
          <p:cNvSpPr/>
          <p:nvPr/>
        </p:nvSpPr>
        <p:spPr>
          <a:xfrm>
            <a:off x="6949440" y="2394360"/>
            <a:ext cx="182808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3fb950"/>
                </a:solidFill>
                <a:latin typeface="Calibri"/>
                <a:ea typeface="Calibri"/>
              </a:rPr>
              <a:t>custom</a:t>
            </a:r>
            <a:endParaRPr b="0" lang="pt-PT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Shape 33"/>
          <p:cNvSpPr/>
          <p:nvPr/>
        </p:nvSpPr>
        <p:spPr>
          <a:xfrm>
            <a:off x="365760" y="2716200"/>
            <a:ext cx="8430120" cy="191988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Text 34"/>
          <p:cNvSpPr/>
          <p:nvPr/>
        </p:nvSpPr>
        <p:spPr>
          <a:xfrm>
            <a:off x="365760" y="4700520"/>
            <a:ext cx="84301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7d8590"/>
                </a:solidFill>
                <a:latin typeface="Calibri"/>
                <a:ea typeface="Calibri"/>
              </a:rPr>
              <a:t>Included: order.total, payment.method, order.items   |   Excluded: emails, addresses, names, card numbers (zero PII)</a:t>
            </a:r>
            <a:endParaRPr b="0" lang="pt-PT" sz="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2" name="" descr=""/>
          <p:cNvPicPr/>
          <p:nvPr/>
        </p:nvPicPr>
        <p:blipFill>
          <a:blip r:embed="rId1"/>
          <a:stretch/>
        </p:blipFill>
        <p:spPr>
          <a:xfrm>
            <a:off x="6480" y="2700000"/>
            <a:ext cx="9143640" cy="1917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1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0"/>
          <p:cNvSpPr/>
          <p:nvPr/>
        </p:nvSpPr>
        <p:spPr>
          <a:xfrm>
            <a:off x="365760" y="274320"/>
            <a:ext cx="45000" cy="52956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1"/>
          <p:cNvSpPr/>
          <p:nvPr/>
        </p:nvSpPr>
        <p:spPr>
          <a:xfrm>
            <a:off x="502920" y="255960"/>
            <a:ext cx="83203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e6edf3"/>
                </a:solidFill>
                <a:latin typeface="Calibri"/>
                <a:ea typeface="Calibri"/>
              </a:rPr>
              <a:t>3 Custom Metrics — The 2am Test</a:t>
            </a:r>
            <a:endParaRPr b="0" lang="pt-PT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Shape 2"/>
          <p:cNvSpPr/>
          <p:nvPr/>
        </p:nvSpPr>
        <p:spPr>
          <a:xfrm>
            <a:off x="365760" y="877680"/>
            <a:ext cx="8411760" cy="1944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4840" bIns="-2484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Shape 3"/>
          <p:cNvSpPr/>
          <p:nvPr/>
        </p:nvSpPr>
        <p:spPr>
          <a:xfrm>
            <a:off x="0" y="4906080"/>
            <a:ext cx="9143280" cy="236880"/>
          </a:xfrm>
          <a:prstGeom prst="rect">
            <a:avLst/>
          </a:prstGeom>
          <a:solidFill>
            <a:srgbClr val="0a0d12"/>
          </a:solidFill>
          <a:ln w="12700">
            <a:solidFill>
              <a:srgbClr val="0a0d1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 4"/>
          <p:cNvSpPr/>
          <p:nvPr/>
        </p:nvSpPr>
        <p:spPr>
          <a:xfrm>
            <a:off x="365760" y="4906080"/>
            <a:ext cx="841176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7d8590"/>
                </a:solidFill>
                <a:latin typeface="Calibri"/>
                <a:ea typeface="Calibri"/>
              </a:rPr>
              <a:t>Software Architectures · Assignment 1 · Bruno Tavares</a:t>
            </a:r>
            <a:endParaRPr b="0" lang="pt-PT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Shape 5"/>
          <p:cNvSpPr/>
          <p:nvPr/>
        </p:nvSpPr>
        <p:spPr>
          <a:xfrm>
            <a:off x="365760" y="1005840"/>
            <a:ext cx="2925360" cy="36504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Text 6"/>
          <p:cNvSpPr/>
          <p:nvPr/>
        </p:nvSpPr>
        <p:spPr>
          <a:xfrm>
            <a:off x="438840" y="1005840"/>
            <a:ext cx="28339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11318"/>
                </a:solidFill>
                <a:latin typeface="Calibri"/>
                <a:ea typeface="Calibri"/>
              </a:rPr>
              <a:t>Metric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Shape 7"/>
          <p:cNvSpPr/>
          <p:nvPr/>
        </p:nvSpPr>
        <p:spPr>
          <a:xfrm>
            <a:off x="3383280" y="1005840"/>
            <a:ext cx="1005120" cy="36504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Text 8"/>
          <p:cNvSpPr/>
          <p:nvPr/>
        </p:nvSpPr>
        <p:spPr>
          <a:xfrm>
            <a:off x="3456360" y="1005840"/>
            <a:ext cx="913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11318"/>
                </a:solidFill>
                <a:latin typeface="Calibri"/>
                <a:ea typeface="Calibri"/>
              </a:rPr>
              <a:t>Type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Shape 9"/>
          <p:cNvSpPr/>
          <p:nvPr/>
        </p:nvSpPr>
        <p:spPr>
          <a:xfrm>
            <a:off x="4480560" y="1005840"/>
            <a:ext cx="4571280" cy="36504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Text 10"/>
          <p:cNvSpPr/>
          <p:nvPr/>
        </p:nvSpPr>
        <p:spPr>
          <a:xfrm>
            <a:off x="4553640" y="1005840"/>
            <a:ext cx="44798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11318"/>
                </a:solidFill>
                <a:latin typeface="Calibri"/>
                <a:ea typeface="Calibri"/>
              </a:rPr>
              <a:t>If it fires at 2am, the on-call engineer knows...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Shape 11"/>
          <p:cNvSpPr/>
          <p:nvPr/>
        </p:nvSpPr>
        <p:spPr>
          <a:xfrm>
            <a:off x="365760" y="1408320"/>
            <a:ext cx="2925360" cy="71244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 12"/>
          <p:cNvSpPr/>
          <p:nvPr/>
        </p:nvSpPr>
        <p:spPr>
          <a:xfrm>
            <a:off x="457200" y="1408320"/>
            <a:ext cx="279720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9c0ff"/>
                </a:solidFill>
                <a:latin typeface="Consolas"/>
                <a:ea typeface="Consolas"/>
              </a:rPr>
              <a:t>nop.checkout.place_order.attempts</a:t>
            </a:r>
            <a:endParaRPr b="0" lang="pt-PT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Shape 13"/>
          <p:cNvSpPr/>
          <p:nvPr/>
        </p:nvSpPr>
        <p:spPr>
          <a:xfrm>
            <a:off x="3383280" y="1408320"/>
            <a:ext cx="1005120" cy="71244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ext 14"/>
          <p:cNvSpPr/>
          <p:nvPr/>
        </p:nvSpPr>
        <p:spPr>
          <a:xfrm>
            <a:off x="3474720" y="1408320"/>
            <a:ext cx="87696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8a6ff"/>
                </a:solidFill>
                <a:latin typeface="Calibri"/>
                <a:ea typeface="Calibri"/>
              </a:rPr>
              <a:t>Counter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Shape 15"/>
          <p:cNvSpPr/>
          <p:nvPr/>
        </p:nvSpPr>
        <p:spPr>
          <a:xfrm>
            <a:off x="4480560" y="1408320"/>
            <a:ext cx="4571280" cy="71244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Text 16"/>
          <p:cNvSpPr/>
          <p:nvPr/>
        </p:nvSpPr>
        <p:spPr>
          <a:xfrm>
            <a:off x="4572000" y="1408320"/>
            <a:ext cx="444312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Checkout volume dropped or spiked abnormally — checkout may be unreachable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Shape 17"/>
          <p:cNvSpPr/>
          <p:nvPr/>
        </p:nvSpPr>
        <p:spPr>
          <a:xfrm>
            <a:off x="365760" y="2157840"/>
            <a:ext cx="2925360" cy="712440"/>
          </a:xfrm>
          <a:prstGeom prst="rect">
            <a:avLst/>
          </a:prstGeom>
          <a:solidFill>
            <a:srgbClr val="191e25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Text 18"/>
          <p:cNvSpPr/>
          <p:nvPr/>
        </p:nvSpPr>
        <p:spPr>
          <a:xfrm>
            <a:off x="457200" y="2157840"/>
            <a:ext cx="279720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9c0ff"/>
                </a:solidFill>
                <a:latin typeface="Consolas"/>
                <a:ea typeface="Consolas"/>
              </a:rPr>
              <a:t>nop.checkout.place_order.failures</a:t>
            </a:r>
            <a:endParaRPr b="0" lang="pt-PT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Shape 19"/>
          <p:cNvSpPr/>
          <p:nvPr/>
        </p:nvSpPr>
        <p:spPr>
          <a:xfrm>
            <a:off x="3383280" y="2157840"/>
            <a:ext cx="1005120" cy="712440"/>
          </a:xfrm>
          <a:prstGeom prst="rect">
            <a:avLst/>
          </a:prstGeom>
          <a:solidFill>
            <a:srgbClr val="191e25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 20"/>
          <p:cNvSpPr/>
          <p:nvPr/>
        </p:nvSpPr>
        <p:spPr>
          <a:xfrm>
            <a:off x="3474720" y="2157840"/>
            <a:ext cx="87696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8a6ff"/>
                </a:solidFill>
                <a:latin typeface="Calibri"/>
                <a:ea typeface="Calibri"/>
              </a:rPr>
              <a:t>Counter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Shape 21"/>
          <p:cNvSpPr/>
          <p:nvPr/>
        </p:nvSpPr>
        <p:spPr>
          <a:xfrm>
            <a:off x="4480560" y="2157840"/>
            <a:ext cx="4571280" cy="712440"/>
          </a:xfrm>
          <a:prstGeom prst="rect">
            <a:avLst/>
          </a:prstGeom>
          <a:solidFill>
            <a:srgbClr val="191e25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22"/>
          <p:cNvSpPr/>
          <p:nvPr/>
        </p:nvSpPr>
        <p:spPr>
          <a:xfrm>
            <a:off x="4572000" y="2157840"/>
            <a:ext cx="444312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The checkout pipeline is broken — users cannot complete orders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Shape 23"/>
          <p:cNvSpPr/>
          <p:nvPr/>
        </p:nvSpPr>
        <p:spPr>
          <a:xfrm>
            <a:off x="365760" y="2908080"/>
            <a:ext cx="2925360" cy="71244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Text 24"/>
          <p:cNvSpPr/>
          <p:nvPr/>
        </p:nvSpPr>
        <p:spPr>
          <a:xfrm>
            <a:off x="457200" y="2908080"/>
            <a:ext cx="279720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9c0ff"/>
                </a:solidFill>
                <a:latin typeface="Consolas"/>
                <a:ea typeface="Consolas"/>
              </a:rPr>
              <a:t>nop.checkout.place_order.duration</a:t>
            </a:r>
            <a:endParaRPr b="0" lang="pt-PT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Shape 25"/>
          <p:cNvSpPr/>
          <p:nvPr/>
        </p:nvSpPr>
        <p:spPr>
          <a:xfrm>
            <a:off x="3383280" y="2908080"/>
            <a:ext cx="1005120" cy="71244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26"/>
          <p:cNvSpPr/>
          <p:nvPr/>
        </p:nvSpPr>
        <p:spPr>
          <a:xfrm>
            <a:off x="3474720" y="2908080"/>
            <a:ext cx="87696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8a6ff"/>
                </a:solidFill>
                <a:latin typeface="Calibri"/>
                <a:ea typeface="Calibri"/>
              </a:rPr>
              <a:t>Histogram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Shape 27"/>
          <p:cNvSpPr/>
          <p:nvPr/>
        </p:nvSpPr>
        <p:spPr>
          <a:xfrm>
            <a:off x="4480560" y="2908080"/>
            <a:ext cx="4571280" cy="71244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Text 28"/>
          <p:cNvSpPr/>
          <p:nvPr/>
        </p:nvSpPr>
        <p:spPr>
          <a:xfrm>
            <a:off x="4572000" y="2908080"/>
            <a:ext cx="444312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DB or payment gateway is degraded — p95 rising before visible errors appear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Shape 29"/>
          <p:cNvSpPr/>
          <p:nvPr/>
        </p:nvSpPr>
        <p:spPr>
          <a:xfrm>
            <a:off x="365760" y="4298040"/>
            <a:ext cx="8411760" cy="346680"/>
          </a:xfrm>
          <a:prstGeom prst="rect">
            <a:avLst/>
          </a:prstGeom>
          <a:solidFill>
            <a:srgbClr val="1c2128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 30"/>
          <p:cNvSpPr/>
          <p:nvPr/>
        </p:nvSpPr>
        <p:spPr>
          <a:xfrm>
            <a:off x="530280" y="4298040"/>
            <a:ext cx="81374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722a"/>
                </a:solidFill>
                <a:latin typeface="Calibri"/>
                <a:ea typeface="Calibri"/>
              </a:rPr>
              <a:t>attempts + failures  →  error rate in Grafana     |     duration  →  detects degradation before failures become visible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1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hape 0"/>
          <p:cNvSpPr/>
          <p:nvPr/>
        </p:nvSpPr>
        <p:spPr>
          <a:xfrm>
            <a:off x="365760" y="274320"/>
            <a:ext cx="45000" cy="52956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Text 1"/>
          <p:cNvSpPr/>
          <p:nvPr/>
        </p:nvSpPr>
        <p:spPr>
          <a:xfrm>
            <a:off x="502920" y="255960"/>
            <a:ext cx="83203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e6edf3"/>
                </a:solidFill>
                <a:latin typeface="Calibri"/>
                <a:ea typeface="Calibri"/>
              </a:rPr>
              <a:t>Privacy — Defence in Depth</a:t>
            </a:r>
            <a:endParaRPr b="0" lang="pt-PT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Shape 2"/>
          <p:cNvSpPr/>
          <p:nvPr/>
        </p:nvSpPr>
        <p:spPr>
          <a:xfrm>
            <a:off x="365760" y="877680"/>
            <a:ext cx="8411760" cy="1944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4840" bIns="-2484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Shape 3"/>
          <p:cNvSpPr/>
          <p:nvPr/>
        </p:nvSpPr>
        <p:spPr>
          <a:xfrm>
            <a:off x="0" y="4906080"/>
            <a:ext cx="9143280" cy="236880"/>
          </a:xfrm>
          <a:prstGeom prst="rect">
            <a:avLst/>
          </a:prstGeom>
          <a:solidFill>
            <a:srgbClr val="0a0d12"/>
          </a:solidFill>
          <a:ln w="12700">
            <a:solidFill>
              <a:srgbClr val="0a0d1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 4"/>
          <p:cNvSpPr/>
          <p:nvPr/>
        </p:nvSpPr>
        <p:spPr>
          <a:xfrm>
            <a:off x="365760" y="4906080"/>
            <a:ext cx="841176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7d8590"/>
                </a:solidFill>
                <a:latin typeface="Calibri"/>
                <a:ea typeface="Calibri"/>
              </a:rPr>
              <a:t>Software Architectures · Assignment 1 · Bruno Tavares</a:t>
            </a:r>
            <a:endParaRPr b="0" lang="pt-PT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Shape 5"/>
          <p:cNvSpPr/>
          <p:nvPr/>
        </p:nvSpPr>
        <p:spPr>
          <a:xfrm>
            <a:off x="365760" y="987480"/>
            <a:ext cx="4159800" cy="306288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Shape 6"/>
          <p:cNvSpPr/>
          <p:nvPr/>
        </p:nvSpPr>
        <p:spPr>
          <a:xfrm>
            <a:off x="365760" y="987480"/>
            <a:ext cx="4159800" cy="36000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7"/>
          <p:cNvSpPr/>
          <p:nvPr/>
        </p:nvSpPr>
        <p:spPr>
          <a:xfrm>
            <a:off x="511920" y="1078920"/>
            <a:ext cx="39402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3fb950"/>
                </a:solidFill>
                <a:latin typeface="Calibri"/>
                <a:ea typeface="Calibri"/>
              </a:rPr>
              <a:t>In code</a:t>
            </a:r>
            <a:endParaRPr b="0" lang="pt-PT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Shape 8"/>
          <p:cNvSpPr/>
          <p:nvPr/>
        </p:nvSpPr>
        <p:spPr>
          <a:xfrm>
            <a:off x="511920" y="1682640"/>
            <a:ext cx="81720" cy="81720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Text 9"/>
          <p:cNvSpPr/>
          <p:nvPr/>
        </p:nvSpPr>
        <p:spPr>
          <a:xfrm>
            <a:off x="658440" y="1554480"/>
            <a:ext cx="375732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Span attributes are strictly operational: order.total, payment.method, order.items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Shape 10"/>
          <p:cNvSpPr/>
          <p:nvPr/>
        </p:nvSpPr>
        <p:spPr>
          <a:xfrm>
            <a:off x="511920" y="2487240"/>
            <a:ext cx="81720" cy="81720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Text 11"/>
          <p:cNvSpPr/>
          <p:nvPr/>
        </p:nvSpPr>
        <p:spPr>
          <a:xfrm>
            <a:off x="658440" y="2359080"/>
            <a:ext cx="375732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No emails, addresses, names or card numbers are ever recorded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Shape 12"/>
          <p:cNvSpPr/>
          <p:nvPr/>
        </p:nvSpPr>
        <p:spPr>
          <a:xfrm>
            <a:off x="511920" y="3292200"/>
            <a:ext cx="81720" cy="81720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Text 13"/>
          <p:cNvSpPr/>
          <p:nvPr/>
        </p:nvSpPr>
        <p:spPr>
          <a:xfrm>
            <a:off x="658440" y="3164040"/>
            <a:ext cx="375732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Explicit decision for every attribute — full control at the point of instrumentation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Shape 14"/>
          <p:cNvSpPr/>
          <p:nvPr/>
        </p:nvSpPr>
        <p:spPr>
          <a:xfrm>
            <a:off x="4754880" y="987480"/>
            <a:ext cx="4159800" cy="306288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Shape 15"/>
          <p:cNvSpPr/>
          <p:nvPr/>
        </p:nvSpPr>
        <p:spPr>
          <a:xfrm>
            <a:off x="4754880" y="987480"/>
            <a:ext cx="4159800" cy="3600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 16"/>
          <p:cNvSpPr/>
          <p:nvPr/>
        </p:nvSpPr>
        <p:spPr>
          <a:xfrm>
            <a:off x="4901040" y="1078920"/>
            <a:ext cx="39402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e8722a"/>
                </a:solidFill>
                <a:latin typeface="Calibri"/>
                <a:ea typeface="Calibri"/>
              </a:rPr>
              <a:t>OTel Collector — pii-redact processor</a:t>
            </a:r>
            <a:endParaRPr b="0" lang="pt-PT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Shape 17"/>
          <p:cNvSpPr/>
          <p:nvPr/>
        </p:nvSpPr>
        <p:spPr>
          <a:xfrm>
            <a:off x="4901040" y="1682640"/>
            <a:ext cx="81720" cy="81720"/>
          </a:xfrm>
          <a:prstGeom prst="ellipse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 18"/>
          <p:cNvSpPr/>
          <p:nvPr/>
        </p:nvSpPr>
        <p:spPr>
          <a:xfrm>
            <a:off x="5047560" y="1554480"/>
            <a:ext cx="375732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Deletes before export: authorization headers, cookies, emails, SQL statements, query strings, request bodies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Shape 19"/>
          <p:cNvSpPr/>
          <p:nvPr/>
        </p:nvSpPr>
        <p:spPr>
          <a:xfrm>
            <a:off x="4901040" y="2487240"/>
            <a:ext cx="81720" cy="81720"/>
          </a:xfrm>
          <a:prstGeom prst="ellipse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Text 20"/>
          <p:cNvSpPr/>
          <p:nvPr/>
        </p:nvSpPr>
        <p:spPr>
          <a:xfrm>
            <a:off x="5047560" y="2359080"/>
            <a:ext cx="375732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Why here? Auto-instrumentation (ASP.NET, SqlClient) can capture PII without my control — the Collector is the last barrier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Shape 21"/>
          <p:cNvSpPr/>
          <p:nvPr/>
        </p:nvSpPr>
        <p:spPr>
          <a:xfrm>
            <a:off x="4901040" y="3292200"/>
            <a:ext cx="81720" cy="81720"/>
          </a:xfrm>
          <a:prstGeom prst="ellipse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Text 22"/>
          <p:cNvSpPr/>
          <p:nvPr/>
        </p:nvSpPr>
        <p:spPr>
          <a:xfrm>
            <a:off x="5047560" y="3164040"/>
            <a:ext cx="375732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Even if something escapes in code, it is filtered here before reaching Jaeger or Prometheus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Shape 23"/>
          <p:cNvSpPr/>
          <p:nvPr/>
        </p:nvSpPr>
        <p:spPr>
          <a:xfrm>
            <a:off x="365760" y="4160880"/>
            <a:ext cx="8411760" cy="346680"/>
          </a:xfrm>
          <a:prstGeom prst="rect">
            <a:avLst/>
          </a:prstGeom>
          <a:solidFill>
            <a:srgbClr val="1c1215"/>
          </a:solidFill>
          <a:ln w="12700">
            <a:solidFill>
              <a:srgbClr val="f8514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Text 24"/>
          <p:cNvSpPr/>
          <p:nvPr/>
        </p:nvSpPr>
        <p:spPr>
          <a:xfrm>
            <a:off x="530280" y="4160880"/>
            <a:ext cx="81374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85149"/>
                </a:solidFill>
                <a:latin typeface="Calibri"/>
                <a:ea typeface="Calibri"/>
              </a:rPr>
              <a:t>Rejected alternative: filtering only in code — fragile, auto-instrumentation escapes our control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1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Shape 0"/>
          <p:cNvSpPr/>
          <p:nvPr/>
        </p:nvSpPr>
        <p:spPr>
          <a:xfrm>
            <a:off x="365760" y="274320"/>
            <a:ext cx="45000" cy="52956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 1"/>
          <p:cNvSpPr/>
          <p:nvPr/>
        </p:nvSpPr>
        <p:spPr>
          <a:xfrm>
            <a:off x="502920" y="255960"/>
            <a:ext cx="83203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e6edf3"/>
                </a:solidFill>
                <a:latin typeface="Calibri"/>
                <a:ea typeface="Calibri"/>
              </a:rPr>
              <a:t>What I Did NOT Instrument — and Why</a:t>
            </a:r>
            <a:endParaRPr b="0" lang="pt-PT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Shape 2"/>
          <p:cNvSpPr/>
          <p:nvPr/>
        </p:nvSpPr>
        <p:spPr>
          <a:xfrm>
            <a:off x="365760" y="877680"/>
            <a:ext cx="8411760" cy="1944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4840" bIns="-2484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Shape 3"/>
          <p:cNvSpPr/>
          <p:nvPr/>
        </p:nvSpPr>
        <p:spPr>
          <a:xfrm>
            <a:off x="0" y="4906080"/>
            <a:ext cx="9143280" cy="236880"/>
          </a:xfrm>
          <a:prstGeom prst="rect">
            <a:avLst/>
          </a:prstGeom>
          <a:solidFill>
            <a:srgbClr val="0a0d12"/>
          </a:solidFill>
          <a:ln w="12700">
            <a:solidFill>
              <a:srgbClr val="0a0d1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Text 4"/>
          <p:cNvSpPr/>
          <p:nvPr/>
        </p:nvSpPr>
        <p:spPr>
          <a:xfrm>
            <a:off x="365760" y="4906080"/>
            <a:ext cx="841176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7d8590"/>
                </a:solidFill>
                <a:latin typeface="Calibri"/>
                <a:ea typeface="Calibri"/>
              </a:rPr>
              <a:t>Software Architectures · Assignment 1 · Bruno Tavares</a:t>
            </a:r>
            <a:endParaRPr b="0" lang="pt-PT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Shape 5"/>
          <p:cNvSpPr/>
          <p:nvPr/>
        </p:nvSpPr>
        <p:spPr>
          <a:xfrm>
            <a:off x="365760" y="1005840"/>
            <a:ext cx="2559600" cy="36504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 6"/>
          <p:cNvSpPr/>
          <p:nvPr/>
        </p:nvSpPr>
        <p:spPr>
          <a:xfrm>
            <a:off x="457200" y="1005840"/>
            <a:ext cx="24314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722a"/>
                </a:solidFill>
                <a:latin typeface="Calibri"/>
                <a:ea typeface="Calibri"/>
              </a:rPr>
              <a:t>Not instrumented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Shape 7"/>
          <p:cNvSpPr/>
          <p:nvPr/>
        </p:nvSpPr>
        <p:spPr>
          <a:xfrm>
            <a:off x="3017520" y="1005840"/>
            <a:ext cx="5760000" cy="36504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 8"/>
          <p:cNvSpPr/>
          <p:nvPr/>
        </p:nvSpPr>
        <p:spPr>
          <a:xfrm>
            <a:off x="3108960" y="1005840"/>
            <a:ext cx="56318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722a"/>
                </a:solidFill>
                <a:latin typeface="Calibri"/>
                <a:ea typeface="Calibri"/>
              </a:rPr>
              <a:t>Reasoning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Shape 9"/>
          <p:cNvSpPr/>
          <p:nvPr/>
        </p:nvSpPr>
        <p:spPr>
          <a:xfrm>
            <a:off x="365760" y="1408320"/>
            <a:ext cx="2559600" cy="62100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Text 10"/>
          <p:cNvSpPr/>
          <p:nvPr/>
        </p:nvSpPr>
        <p:spPr>
          <a:xfrm>
            <a:off x="457200" y="1408320"/>
            <a:ext cx="243144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Controllers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Shape 11"/>
          <p:cNvSpPr/>
          <p:nvPr/>
        </p:nvSpPr>
        <p:spPr>
          <a:xfrm>
            <a:off x="3017520" y="1408320"/>
            <a:ext cx="5760000" cy="62100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Text 12"/>
          <p:cNvSpPr/>
          <p:nvPr/>
        </p:nvSpPr>
        <p:spPr>
          <a:xfrm>
            <a:off x="3108960" y="1408320"/>
            <a:ext cx="563184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d8590"/>
                </a:solidFill>
                <a:latin typeface="Calibri"/>
                <a:ea typeface="Calibri"/>
              </a:rPr>
              <a:t>ASP.NET auto-instrumentation already covers all HTTP spans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Shape 13"/>
          <p:cNvSpPr/>
          <p:nvPr/>
        </p:nvSpPr>
        <p:spPr>
          <a:xfrm>
            <a:off x="365760" y="2066400"/>
            <a:ext cx="2559600" cy="621000"/>
          </a:xfrm>
          <a:prstGeom prst="rect">
            <a:avLst/>
          </a:prstGeom>
          <a:solidFill>
            <a:srgbClr val="191e25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Text 14"/>
          <p:cNvSpPr/>
          <p:nvPr/>
        </p:nvSpPr>
        <p:spPr>
          <a:xfrm>
            <a:off x="457200" y="2066400"/>
            <a:ext cx="243144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Generic EventPublisher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Shape 15"/>
          <p:cNvSpPr/>
          <p:nvPr/>
        </p:nvSpPr>
        <p:spPr>
          <a:xfrm>
            <a:off x="3017520" y="2066400"/>
            <a:ext cx="5760000" cy="621000"/>
          </a:xfrm>
          <a:prstGeom prst="rect">
            <a:avLst/>
          </a:prstGeom>
          <a:solidFill>
            <a:srgbClr val="191e25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 16"/>
          <p:cNvSpPr/>
          <p:nvPr/>
        </p:nvSpPr>
        <p:spPr>
          <a:xfrm>
            <a:off x="3108960" y="2066400"/>
            <a:ext cx="563184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d8590"/>
                </a:solidFill>
                <a:latin typeface="Calibri"/>
                <a:ea typeface="Calibri"/>
              </a:rPr>
              <a:t>Would affect the entire system (login, newsletter...) — instrumented only the OrderPlacedEvent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Shape 17"/>
          <p:cNvSpPr/>
          <p:nvPr/>
        </p:nvSpPr>
        <p:spPr>
          <a:xfrm>
            <a:off x="365760" y="2725200"/>
            <a:ext cx="2559600" cy="62100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Text 18"/>
          <p:cNvSpPr/>
          <p:nvPr/>
        </p:nvSpPr>
        <p:spPr>
          <a:xfrm>
            <a:off x="457200" y="2725200"/>
            <a:ext cx="243144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Plugins (Brevo, Avalara)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Shape 19"/>
          <p:cNvSpPr/>
          <p:nvPr/>
        </p:nvSpPr>
        <p:spPr>
          <a:xfrm>
            <a:off x="3017520" y="2725200"/>
            <a:ext cx="5760000" cy="62100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Text 20"/>
          <p:cNvSpPr/>
          <p:nvPr/>
        </p:nvSpPr>
        <p:spPr>
          <a:xfrm>
            <a:off x="3108960" y="2725200"/>
            <a:ext cx="563184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d8590"/>
                </a:solidFill>
                <a:latin typeface="Calibri"/>
                <a:ea typeface="Calibri"/>
              </a:rPr>
              <a:t>Independent modules, out of checkout scope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Shape 21"/>
          <p:cNvSpPr/>
          <p:nvPr/>
        </p:nvSpPr>
        <p:spPr>
          <a:xfrm>
            <a:off x="365760" y="3383640"/>
            <a:ext cx="2559600" cy="621000"/>
          </a:xfrm>
          <a:prstGeom prst="rect">
            <a:avLst/>
          </a:prstGeom>
          <a:solidFill>
            <a:srgbClr val="191e25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Text 22"/>
          <p:cNvSpPr/>
          <p:nvPr/>
        </p:nvSpPr>
        <p:spPr>
          <a:xfrm>
            <a:off x="457200" y="3383640"/>
            <a:ext cx="243144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Cache (IStaticCacheManager)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Shape 23"/>
          <p:cNvSpPr/>
          <p:nvPr/>
        </p:nvSpPr>
        <p:spPr>
          <a:xfrm>
            <a:off x="3017520" y="3383640"/>
            <a:ext cx="5760000" cy="621000"/>
          </a:xfrm>
          <a:prstGeom prst="rect">
            <a:avLst/>
          </a:prstGeom>
          <a:solidFill>
            <a:srgbClr val="191e25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Text 24"/>
          <p:cNvSpPr/>
          <p:nvPr/>
        </p:nvSpPr>
        <p:spPr>
          <a:xfrm>
            <a:off x="3108960" y="3383640"/>
            <a:ext cx="563184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d8590"/>
                </a:solidFill>
                <a:latin typeface="Calibri"/>
                <a:ea typeface="Calibri"/>
              </a:rPr>
              <a:t>Overhead on thousands of operations per request — noise with no value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Shape 25"/>
          <p:cNvSpPr/>
          <p:nvPr/>
        </p:nvSpPr>
        <p:spPr>
          <a:xfrm>
            <a:off x="365760" y="4160880"/>
            <a:ext cx="8411760" cy="43812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 26"/>
          <p:cNvSpPr/>
          <p:nvPr/>
        </p:nvSpPr>
        <p:spPr>
          <a:xfrm>
            <a:off x="502920" y="4160880"/>
            <a:ext cx="82288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7d8590"/>
                </a:solidFill>
                <a:latin typeface="Calibri"/>
                <a:ea typeface="Calibri"/>
              </a:rPr>
              <a:t>Internal checkout methods are protected virtual — subclass override would be possible but fragile and disproportionate. Chose direct surgical change in the service.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1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Shape 0"/>
          <p:cNvSpPr/>
          <p:nvPr/>
        </p:nvSpPr>
        <p:spPr>
          <a:xfrm>
            <a:off x="365760" y="274320"/>
            <a:ext cx="45000" cy="52956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Text 1"/>
          <p:cNvSpPr/>
          <p:nvPr/>
        </p:nvSpPr>
        <p:spPr>
          <a:xfrm>
            <a:off x="502920" y="255960"/>
            <a:ext cx="83203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e6edf3"/>
                </a:solidFill>
                <a:latin typeface="Calibri"/>
                <a:ea typeface="Calibri"/>
              </a:rPr>
              <a:t>Live Demo</a:t>
            </a:r>
            <a:endParaRPr b="0" lang="pt-PT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Shape 2"/>
          <p:cNvSpPr/>
          <p:nvPr/>
        </p:nvSpPr>
        <p:spPr>
          <a:xfrm>
            <a:off x="365760" y="877680"/>
            <a:ext cx="8411760" cy="1944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4840" bIns="-2484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Shape 3"/>
          <p:cNvSpPr/>
          <p:nvPr/>
        </p:nvSpPr>
        <p:spPr>
          <a:xfrm>
            <a:off x="0" y="4906080"/>
            <a:ext cx="9143280" cy="236880"/>
          </a:xfrm>
          <a:prstGeom prst="rect">
            <a:avLst/>
          </a:prstGeom>
          <a:solidFill>
            <a:srgbClr val="0a0d12"/>
          </a:solidFill>
          <a:ln w="12700">
            <a:solidFill>
              <a:srgbClr val="0a0d1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 4"/>
          <p:cNvSpPr/>
          <p:nvPr/>
        </p:nvSpPr>
        <p:spPr>
          <a:xfrm>
            <a:off x="365760" y="4906080"/>
            <a:ext cx="841176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7d8590"/>
                </a:solidFill>
                <a:latin typeface="Calibri"/>
                <a:ea typeface="Calibri"/>
              </a:rPr>
              <a:t>Software Architectures · Assignment 1 · Bruno Tavares</a:t>
            </a:r>
            <a:endParaRPr b="0" lang="pt-PT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Shape 5"/>
          <p:cNvSpPr/>
          <p:nvPr/>
        </p:nvSpPr>
        <p:spPr>
          <a:xfrm>
            <a:off x="365760" y="987480"/>
            <a:ext cx="2760840" cy="621000"/>
          </a:xfrm>
          <a:prstGeom prst="rect">
            <a:avLst/>
          </a:prstGeom>
          <a:solidFill>
            <a:srgbClr val="1c2128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Shape 6"/>
          <p:cNvSpPr/>
          <p:nvPr/>
        </p:nvSpPr>
        <p:spPr>
          <a:xfrm>
            <a:off x="365760" y="987480"/>
            <a:ext cx="45000" cy="62100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 7"/>
          <p:cNvSpPr/>
          <p:nvPr/>
        </p:nvSpPr>
        <p:spPr>
          <a:xfrm>
            <a:off x="475560" y="1005840"/>
            <a:ext cx="25596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722a"/>
                </a:solidFill>
                <a:latin typeface="Calibri"/>
                <a:ea typeface="Calibri"/>
              </a:rPr>
              <a:t>Load Test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Text 8"/>
          <p:cNvSpPr/>
          <p:nvPr/>
        </p:nvSpPr>
        <p:spPr>
          <a:xfrm>
            <a:off x="475560" y="1280160"/>
            <a:ext cx="2559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d8590"/>
                </a:solidFill>
                <a:latin typeface="Consolas"/>
                <a:ea typeface="Consolas"/>
              </a:rPr>
              <a:t>k6 run loadtest/checkout-flow.js</a:t>
            </a:r>
            <a:endParaRPr b="0" lang="pt-PT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Shape 9"/>
          <p:cNvSpPr/>
          <p:nvPr/>
        </p:nvSpPr>
        <p:spPr>
          <a:xfrm>
            <a:off x="3310200" y="987480"/>
            <a:ext cx="2760840" cy="621000"/>
          </a:xfrm>
          <a:prstGeom prst="rect">
            <a:avLst/>
          </a:prstGeom>
          <a:solidFill>
            <a:srgbClr val="1c2128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Shape 10"/>
          <p:cNvSpPr/>
          <p:nvPr/>
        </p:nvSpPr>
        <p:spPr>
          <a:xfrm>
            <a:off x="3310200" y="987480"/>
            <a:ext cx="45000" cy="621000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Text 11"/>
          <p:cNvSpPr/>
          <p:nvPr/>
        </p:nvSpPr>
        <p:spPr>
          <a:xfrm>
            <a:off x="3420000" y="1005840"/>
            <a:ext cx="25596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fb950"/>
                </a:solidFill>
                <a:latin typeface="Calibri"/>
                <a:ea typeface="Calibri"/>
              </a:rPr>
              <a:t>Grafana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Text 12"/>
          <p:cNvSpPr/>
          <p:nvPr/>
        </p:nvSpPr>
        <p:spPr>
          <a:xfrm>
            <a:off x="3420000" y="1280160"/>
            <a:ext cx="2559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d8590"/>
                </a:solidFill>
                <a:latin typeface="Consolas"/>
                <a:ea typeface="Consolas"/>
              </a:rPr>
              <a:t>localhost:3000</a:t>
            </a:r>
            <a:endParaRPr b="0" lang="pt-PT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Shape 13"/>
          <p:cNvSpPr/>
          <p:nvPr/>
        </p:nvSpPr>
        <p:spPr>
          <a:xfrm>
            <a:off x="6254640" y="987480"/>
            <a:ext cx="2760840" cy="621000"/>
          </a:xfrm>
          <a:prstGeom prst="rect">
            <a:avLst/>
          </a:prstGeom>
          <a:solidFill>
            <a:srgbClr val="1c2128"/>
          </a:solidFill>
          <a:ln w="12700">
            <a:solidFill>
              <a:srgbClr val="58a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Shape 14"/>
          <p:cNvSpPr/>
          <p:nvPr/>
        </p:nvSpPr>
        <p:spPr>
          <a:xfrm>
            <a:off x="6254640" y="987480"/>
            <a:ext cx="45000" cy="62100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 15"/>
          <p:cNvSpPr/>
          <p:nvPr/>
        </p:nvSpPr>
        <p:spPr>
          <a:xfrm>
            <a:off x="6364080" y="1005840"/>
            <a:ext cx="25596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58a6ff"/>
                </a:solidFill>
                <a:latin typeface="Calibri"/>
                <a:ea typeface="Calibri"/>
              </a:rPr>
              <a:t>Jaeger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Text 16"/>
          <p:cNvSpPr/>
          <p:nvPr/>
        </p:nvSpPr>
        <p:spPr>
          <a:xfrm>
            <a:off x="6364080" y="1280160"/>
            <a:ext cx="2559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d8590"/>
                </a:solidFill>
                <a:latin typeface="Consolas"/>
                <a:ea typeface="Consolas"/>
              </a:rPr>
              <a:t>localhost:16686</a:t>
            </a:r>
            <a:endParaRPr b="0" lang="pt-PT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Shape 17"/>
          <p:cNvSpPr/>
          <p:nvPr/>
        </p:nvSpPr>
        <p:spPr>
          <a:xfrm>
            <a:off x="360000" y="1800000"/>
            <a:ext cx="8640000" cy="2871000"/>
          </a:xfrm>
          <a:prstGeom prst="rect">
            <a:avLst/>
          </a:prstGeom>
          <a:solidFill>
            <a:srgbClr val="0d1117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 19"/>
          <p:cNvSpPr/>
          <p:nvPr/>
        </p:nvSpPr>
        <p:spPr>
          <a:xfrm>
            <a:off x="365760" y="4736880"/>
            <a:ext cx="84117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00" spc="-1" strike="noStrike">
                <a:solidFill>
                  <a:srgbClr val="7d8590"/>
                </a:solidFill>
                <a:latin typeface="Calibri"/>
                <a:ea typeface="Calibri"/>
              </a:rPr>
              <a:t>Backup screenshots — real demo runs live with k6 generating traffic</a:t>
            </a:r>
            <a:endParaRPr b="0" lang="pt-PT" sz="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15" name="" descr=""/>
          <p:cNvPicPr/>
          <p:nvPr/>
        </p:nvPicPr>
        <p:blipFill>
          <a:blip r:embed="rId1"/>
          <a:stretch/>
        </p:blipFill>
        <p:spPr>
          <a:xfrm>
            <a:off x="943200" y="1872000"/>
            <a:ext cx="7516800" cy="2723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1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Shape 31"/>
          <p:cNvSpPr/>
          <p:nvPr/>
        </p:nvSpPr>
        <p:spPr>
          <a:xfrm>
            <a:off x="365760" y="274320"/>
            <a:ext cx="45000" cy="52956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Text 32"/>
          <p:cNvSpPr/>
          <p:nvPr/>
        </p:nvSpPr>
        <p:spPr>
          <a:xfrm>
            <a:off x="502920" y="255960"/>
            <a:ext cx="83203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e6edf3"/>
                </a:solidFill>
                <a:latin typeface="Calibri"/>
                <a:ea typeface="Calibri"/>
              </a:rPr>
              <a:t>Live Demo</a:t>
            </a:r>
            <a:endParaRPr b="0" lang="pt-PT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Shape 32"/>
          <p:cNvSpPr/>
          <p:nvPr/>
        </p:nvSpPr>
        <p:spPr>
          <a:xfrm>
            <a:off x="365760" y="877680"/>
            <a:ext cx="8411760" cy="1944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4840" bIns="-2484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Shape 35"/>
          <p:cNvSpPr/>
          <p:nvPr/>
        </p:nvSpPr>
        <p:spPr>
          <a:xfrm>
            <a:off x="0" y="4906080"/>
            <a:ext cx="9143280" cy="236880"/>
          </a:xfrm>
          <a:prstGeom prst="rect">
            <a:avLst/>
          </a:prstGeom>
          <a:solidFill>
            <a:srgbClr val="0a0d12"/>
          </a:solidFill>
          <a:ln w="12700">
            <a:solidFill>
              <a:srgbClr val="0a0d1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Text 36"/>
          <p:cNvSpPr/>
          <p:nvPr/>
        </p:nvSpPr>
        <p:spPr>
          <a:xfrm>
            <a:off x="365760" y="4906080"/>
            <a:ext cx="841176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7d8590"/>
                </a:solidFill>
                <a:latin typeface="Calibri"/>
                <a:ea typeface="Calibri"/>
              </a:rPr>
              <a:t>Software Architectures · Assignment 1 · Bruno Tavares</a:t>
            </a:r>
            <a:endParaRPr b="0" lang="pt-PT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Shape 36"/>
          <p:cNvSpPr/>
          <p:nvPr/>
        </p:nvSpPr>
        <p:spPr>
          <a:xfrm>
            <a:off x="365760" y="987480"/>
            <a:ext cx="2760840" cy="621000"/>
          </a:xfrm>
          <a:prstGeom prst="rect">
            <a:avLst/>
          </a:prstGeom>
          <a:solidFill>
            <a:srgbClr val="1c2128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Shape 37"/>
          <p:cNvSpPr/>
          <p:nvPr/>
        </p:nvSpPr>
        <p:spPr>
          <a:xfrm>
            <a:off x="365760" y="987480"/>
            <a:ext cx="45000" cy="62100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Text 37"/>
          <p:cNvSpPr/>
          <p:nvPr/>
        </p:nvSpPr>
        <p:spPr>
          <a:xfrm>
            <a:off x="475560" y="1005840"/>
            <a:ext cx="25596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722a"/>
                </a:solidFill>
                <a:latin typeface="Calibri"/>
                <a:ea typeface="Calibri"/>
              </a:rPr>
              <a:t>Load Test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Text 38"/>
          <p:cNvSpPr/>
          <p:nvPr/>
        </p:nvSpPr>
        <p:spPr>
          <a:xfrm>
            <a:off x="475560" y="1280160"/>
            <a:ext cx="2559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d8590"/>
                </a:solidFill>
                <a:latin typeface="Consolas"/>
                <a:ea typeface="Consolas"/>
              </a:rPr>
              <a:t>k6 run loadtest/checkout-flow.js</a:t>
            </a:r>
            <a:endParaRPr b="0" lang="pt-PT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Shape 38"/>
          <p:cNvSpPr/>
          <p:nvPr/>
        </p:nvSpPr>
        <p:spPr>
          <a:xfrm>
            <a:off x="3310200" y="987480"/>
            <a:ext cx="2760840" cy="621000"/>
          </a:xfrm>
          <a:prstGeom prst="rect">
            <a:avLst/>
          </a:prstGeom>
          <a:solidFill>
            <a:srgbClr val="1c2128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Shape 39"/>
          <p:cNvSpPr/>
          <p:nvPr/>
        </p:nvSpPr>
        <p:spPr>
          <a:xfrm>
            <a:off x="3310200" y="987480"/>
            <a:ext cx="45000" cy="621000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Text 39"/>
          <p:cNvSpPr/>
          <p:nvPr/>
        </p:nvSpPr>
        <p:spPr>
          <a:xfrm>
            <a:off x="3420000" y="1005840"/>
            <a:ext cx="25596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fb950"/>
                </a:solidFill>
                <a:latin typeface="Calibri"/>
                <a:ea typeface="Calibri"/>
              </a:rPr>
              <a:t>Grafana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Text 40"/>
          <p:cNvSpPr/>
          <p:nvPr/>
        </p:nvSpPr>
        <p:spPr>
          <a:xfrm>
            <a:off x="3420000" y="1280160"/>
            <a:ext cx="2559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d8590"/>
                </a:solidFill>
                <a:latin typeface="Consolas"/>
                <a:ea typeface="Consolas"/>
              </a:rPr>
              <a:t>localhost:3000</a:t>
            </a:r>
            <a:endParaRPr b="0" lang="pt-PT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Shape 40"/>
          <p:cNvSpPr/>
          <p:nvPr/>
        </p:nvSpPr>
        <p:spPr>
          <a:xfrm>
            <a:off x="6254640" y="987480"/>
            <a:ext cx="2760840" cy="621000"/>
          </a:xfrm>
          <a:prstGeom prst="rect">
            <a:avLst/>
          </a:prstGeom>
          <a:solidFill>
            <a:srgbClr val="1c2128"/>
          </a:solidFill>
          <a:ln w="12700">
            <a:solidFill>
              <a:srgbClr val="58a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Shape 41"/>
          <p:cNvSpPr/>
          <p:nvPr/>
        </p:nvSpPr>
        <p:spPr>
          <a:xfrm>
            <a:off x="6254640" y="987480"/>
            <a:ext cx="45000" cy="62100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Text 41"/>
          <p:cNvSpPr/>
          <p:nvPr/>
        </p:nvSpPr>
        <p:spPr>
          <a:xfrm>
            <a:off x="6364080" y="1005840"/>
            <a:ext cx="25596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58a6ff"/>
                </a:solidFill>
                <a:latin typeface="Calibri"/>
                <a:ea typeface="Calibri"/>
              </a:rPr>
              <a:t>Jaeger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Text 42"/>
          <p:cNvSpPr/>
          <p:nvPr/>
        </p:nvSpPr>
        <p:spPr>
          <a:xfrm>
            <a:off x="6364080" y="1280160"/>
            <a:ext cx="2559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d8590"/>
                </a:solidFill>
                <a:latin typeface="Consolas"/>
                <a:ea typeface="Consolas"/>
              </a:rPr>
              <a:t>localhost:16686</a:t>
            </a:r>
            <a:endParaRPr b="0" lang="pt-PT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Shape 42"/>
          <p:cNvSpPr/>
          <p:nvPr/>
        </p:nvSpPr>
        <p:spPr>
          <a:xfrm>
            <a:off x="360000" y="1800000"/>
            <a:ext cx="8640000" cy="2871000"/>
          </a:xfrm>
          <a:prstGeom prst="rect">
            <a:avLst/>
          </a:prstGeom>
          <a:solidFill>
            <a:srgbClr val="0d1117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Text 43"/>
          <p:cNvSpPr/>
          <p:nvPr/>
        </p:nvSpPr>
        <p:spPr>
          <a:xfrm>
            <a:off x="365760" y="4736880"/>
            <a:ext cx="84117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00" spc="-1" strike="noStrike">
                <a:solidFill>
                  <a:srgbClr val="7d8590"/>
                </a:solidFill>
                <a:latin typeface="Calibri"/>
                <a:ea typeface="Calibri"/>
              </a:rPr>
              <a:t>Backup screenshots — real demo runs live with k6 generating traffic</a:t>
            </a:r>
            <a:endParaRPr b="0" lang="pt-PT" sz="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35" name="" descr=""/>
          <p:cNvPicPr/>
          <p:nvPr/>
        </p:nvPicPr>
        <p:blipFill>
          <a:blip r:embed="rId1"/>
          <a:stretch/>
        </p:blipFill>
        <p:spPr>
          <a:xfrm>
            <a:off x="900000" y="1944360"/>
            <a:ext cx="7537320" cy="2555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1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Shape 43"/>
          <p:cNvSpPr/>
          <p:nvPr/>
        </p:nvSpPr>
        <p:spPr>
          <a:xfrm>
            <a:off x="365760" y="274320"/>
            <a:ext cx="45000" cy="52956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Text 44"/>
          <p:cNvSpPr/>
          <p:nvPr/>
        </p:nvSpPr>
        <p:spPr>
          <a:xfrm>
            <a:off x="502920" y="255960"/>
            <a:ext cx="83203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e6edf3"/>
                </a:solidFill>
                <a:latin typeface="Calibri"/>
                <a:ea typeface="Calibri"/>
              </a:rPr>
              <a:t>Live Demo</a:t>
            </a:r>
            <a:endParaRPr b="0" lang="pt-PT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Shape 44"/>
          <p:cNvSpPr/>
          <p:nvPr/>
        </p:nvSpPr>
        <p:spPr>
          <a:xfrm>
            <a:off x="365760" y="877680"/>
            <a:ext cx="8411760" cy="1944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4840" bIns="-2484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Shape 45"/>
          <p:cNvSpPr/>
          <p:nvPr/>
        </p:nvSpPr>
        <p:spPr>
          <a:xfrm>
            <a:off x="0" y="4906080"/>
            <a:ext cx="9143280" cy="236880"/>
          </a:xfrm>
          <a:prstGeom prst="rect">
            <a:avLst/>
          </a:prstGeom>
          <a:solidFill>
            <a:srgbClr val="0a0d12"/>
          </a:solidFill>
          <a:ln w="12700">
            <a:solidFill>
              <a:srgbClr val="0a0d1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 45"/>
          <p:cNvSpPr/>
          <p:nvPr/>
        </p:nvSpPr>
        <p:spPr>
          <a:xfrm>
            <a:off x="365760" y="4906080"/>
            <a:ext cx="841176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7d8590"/>
                </a:solidFill>
                <a:latin typeface="Calibri"/>
                <a:ea typeface="Calibri"/>
              </a:rPr>
              <a:t>Software Architectures · Assignment 1 · Bruno Tavares</a:t>
            </a:r>
            <a:endParaRPr b="0" lang="pt-PT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Shape 46"/>
          <p:cNvSpPr/>
          <p:nvPr/>
        </p:nvSpPr>
        <p:spPr>
          <a:xfrm>
            <a:off x="365760" y="987480"/>
            <a:ext cx="2760840" cy="621000"/>
          </a:xfrm>
          <a:prstGeom prst="rect">
            <a:avLst/>
          </a:prstGeom>
          <a:solidFill>
            <a:srgbClr val="1c2128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Shape 47"/>
          <p:cNvSpPr/>
          <p:nvPr/>
        </p:nvSpPr>
        <p:spPr>
          <a:xfrm>
            <a:off x="365760" y="987480"/>
            <a:ext cx="45000" cy="62100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Text 46"/>
          <p:cNvSpPr/>
          <p:nvPr/>
        </p:nvSpPr>
        <p:spPr>
          <a:xfrm>
            <a:off x="475560" y="1005840"/>
            <a:ext cx="25596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722a"/>
                </a:solidFill>
                <a:latin typeface="Calibri"/>
                <a:ea typeface="Calibri"/>
              </a:rPr>
              <a:t>Load Test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Text 47"/>
          <p:cNvSpPr/>
          <p:nvPr/>
        </p:nvSpPr>
        <p:spPr>
          <a:xfrm>
            <a:off x="475560" y="1280160"/>
            <a:ext cx="2559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d8590"/>
                </a:solidFill>
                <a:latin typeface="Consolas"/>
                <a:ea typeface="Consolas"/>
              </a:rPr>
              <a:t>k6 run loadtest/checkout-flow.js</a:t>
            </a:r>
            <a:endParaRPr b="0" lang="pt-PT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Shape 48"/>
          <p:cNvSpPr/>
          <p:nvPr/>
        </p:nvSpPr>
        <p:spPr>
          <a:xfrm>
            <a:off x="3310200" y="987480"/>
            <a:ext cx="2760840" cy="621000"/>
          </a:xfrm>
          <a:prstGeom prst="rect">
            <a:avLst/>
          </a:prstGeom>
          <a:solidFill>
            <a:srgbClr val="1c2128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Shape 49"/>
          <p:cNvSpPr/>
          <p:nvPr/>
        </p:nvSpPr>
        <p:spPr>
          <a:xfrm>
            <a:off x="3310200" y="987480"/>
            <a:ext cx="45000" cy="621000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 48"/>
          <p:cNvSpPr/>
          <p:nvPr/>
        </p:nvSpPr>
        <p:spPr>
          <a:xfrm>
            <a:off x="3420000" y="1005840"/>
            <a:ext cx="25596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fb950"/>
                </a:solidFill>
                <a:latin typeface="Calibri"/>
                <a:ea typeface="Calibri"/>
              </a:rPr>
              <a:t>Grafana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 49"/>
          <p:cNvSpPr/>
          <p:nvPr/>
        </p:nvSpPr>
        <p:spPr>
          <a:xfrm>
            <a:off x="3420000" y="1280160"/>
            <a:ext cx="2559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d8590"/>
                </a:solidFill>
                <a:latin typeface="Consolas"/>
                <a:ea typeface="Consolas"/>
              </a:rPr>
              <a:t>localhost:3000</a:t>
            </a:r>
            <a:endParaRPr b="0" lang="pt-PT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Shape 65"/>
          <p:cNvSpPr/>
          <p:nvPr/>
        </p:nvSpPr>
        <p:spPr>
          <a:xfrm>
            <a:off x="6254640" y="987480"/>
            <a:ext cx="2760840" cy="621000"/>
          </a:xfrm>
          <a:prstGeom prst="rect">
            <a:avLst/>
          </a:prstGeom>
          <a:solidFill>
            <a:srgbClr val="1c2128"/>
          </a:solidFill>
          <a:ln w="12700">
            <a:solidFill>
              <a:srgbClr val="58a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Shape 66"/>
          <p:cNvSpPr/>
          <p:nvPr/>
        </p:nvSpPr>
        <p:spPr>
          <a:xfrm>
            <a:off x="6254640" y="987480"/>
            <a:ext cx="45000" cy="62100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Text 50"/>
          <p:cNvSpPr/>
          <p:nvPr/>
        </p:nvSpPr>
        <p:spPr>
          <a:xfrm>
            <a:off x="6364080" y="1005840"/>
            <a:ext cx="25596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58a6ff"/>
                </a:solidFill>
                <a:latin typeface="Calibri"/>
                <a:ea typeface="Calibri"/>
              </a:rPr>
              <a:t>Jaeger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Text 51"/>
          <p:cNvSpPr/>
          <p:nvPr/>
        </p:nvSpPr>
        <p:spPr>
          <a:xfrm>
            <a:off x="6364080" y="1280160"/>
            <a:ext cx="2559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d8590"/>
                </a:solidFill>
                <a:latin typeface="Consolas"/>
                <a:ea typeface="Consolas"/>
              </a:rPr>
              <a:t>localhost:16686</a:t>
            </a:r>
            <a:endParaRPr b="0" lang="pt-PT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Shape 67"/>
          <p:cNvSpPr/>
          <p:nvPr/>
        </p:nvSpPr>
        <p:spPr>
          <a:xfrm>
            <a:off x="360000" y="1800000"/>
            <a:ext cx="8640000" cy="2871000"/>
          </a:xfrm>
          <a:prstGeom prst="rect">
            <a:avLst/>
          </a:prstGeom>
          <a:solidFill>
            <a:srgbClr val="0d1117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Text 52"/>
          <p:cNvSpPr/>
          <p:nvPr/>
        </p:nvSpPr>
        <p:spPr>
          <a:xfrm>
            <a:off x="365760" y="4736880"/>
            <a:ext cx="84117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00" spc="-1" strike="noStrike">
                <a:solidFill>
                  <a:srgbClr val="7d8590"/>
                </a:solidFill>
                <a:latin typeface="Calibri"/>
                <a:ea typeface="Calibri"/>
              </a:rPr>
              <a:t>Backup screenshots — real demo runs live with k6 generating traffic</a:t>
            </a:r>
            <a:endParaRPr b="0" lang="pt-PT" sz="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55" name="" descr=""/>
          <p:cNvPicPr/>
          <p:nvPr/>
        </p:nvPicPr>
        <p:blipFill>
          <a:blip r:embed="rId1"/>
          <a:stretch/>
        </p:blipFill>
        <p:spPr>
          <a:xfrm>
            <a:off x="1296000" y="1872000"/>
            <a:ext cx="6444000" cy="2700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217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2026-03-22T19:12:13Z</dcterms:created>
  <dc:creator>PptxGenJS</dc:creator>
  <dc:description/>
  <dc:language>pt-PT</dc:language>
  <cp:lastModifiedBy/>
  <cp:lastPrinted>2026-03-23T12:50:03Z</cp:lastPrinted>
  <dcterms:modified xsi:type="dcterms:W3CDTF">2026-03-23T16:28:01Z</dcterms:modified>
  <cp:revision>3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7</vt:i4>
  </property>
  <property fmtid="{D5CDD505-2E9C-101B-9397-08002B2CF9AE}" pid="3" name="PresentationFormat">
    <vt:lpwstr>On-screen Show (16:9)</vt:lpwstr>
  </property>
  <property fmtid="{D5CDD505-2E9C-101B-9397-08002B2CF9AE}" pid="4" name="Slides">
    <vt:i4>7</vt:i4>
  </property>
</Properties>
</file>