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jpeg" ContentType="image/jpeg"/>
  <Override PartName="/ppt/media/image2.jpeg" ContentType="image/jpeg"/>
  <Override PartName="/ppt/media/image3.jpeg" ContentType="image/jpeg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pt-PT" sz="1800" spc="-1" strike="noStrike">
                <a:solidFill>
                  <a:schemeClr val="dk1"/>
                </a:solidFill>
                <a:latin typeface="Calibri"/>
              </a:rPr>
              <a:t>Clique para mover o </a:t>
            </a:r>
            <a:r>
              <a:rPr b="0" lang="pt-PT" sz="1800" spc="-1" strike="noStrike">
                <a:solidFill>
                  <a:schemeClr val="dk1"/>
                </a:solidFill>
                <a:latin typeface="Calibri"/>
              </a:rPr>
              <a:t>diapositivo</a:t>
            </a:r>
            <a:endParaRPr b="0" lang="pt-PT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pt-PT" sz="2000" spc="-1" strike="noStrike">
                <a:solidFill>
                  <a:srgbClr val="000000"/>
                </a:solidFill>
                <a:latin typeface="Arial"/>
              </a:rPr>
              <a:t>Clique para editar o formato das notas</a:t>
            </a:r>
            <a:endParaRPr b="0" lang="pt-PT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&lt;cabeçalho&gt;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P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280459B3-7DFF-4796-AC42-322F240F5793}" type="slidenum">
              <a:rPr b="0" lang="pt-PT" sz="14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PT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3FC7FC0-D7B9-45E2-9504-D2E02BF083B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349EEBB-0063-44B8-9865-7C48C9C1C93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15DAB51-4F3F-458C-B14E-81BA6A211F6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5CB11D-5C84-404B-9496-94FBF4974A6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09B1CBF-767E-4D90-ADB7-8CF41F1641D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CAC2873-5509-4888-93D1-CA113F63809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P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EAB5FAB-2DF0-4C41-A028-F3B94B9A9BE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&lt;número&gt;</a:t>
            </a:fld>
            <a:endParaRPr b="0" lang="pt-PT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PT" sz="1800" spc="-1" strike="noStrike">
                <a:solidFill>
                  <a:schemeClr val="dk1"/>
                </a:solidFill>
                <a:latin typeface="Calibri"/>
              </a:rPr>
              <a:t>Clique para editar o formato do título</a:t>
            </a:r>
            <a:endParaRPr b="0" lang="pt-PT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491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3200" spc="-1" strike="noStrike">
                <a:solidFill>
                  <a:schemeClr val="dk1"/>
                </a:solidFill>
                <a:latin typeface="Calibri"/>
              </a:rPr>
              <a:t>Clique para editar o formato de texto dos tópicos</a:t>
            </a:r>
            <a:endParaRPr b="0" lang="pt-PT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400" spc="-1" strike="noStrike">
                <a:solidFill>
                  <a:schemeClr val="dk1"/>
                </a:solidFill>
                <a:latin typeface="Calibri"/>
              </a:rPr>
              <a:t>Segundo nível de tópicos</a:t>
            </a:r>
            <a:endParaRPr b="0" lang="pt-PT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chemeClr val="dk1"/>
                </a:solidFill>
                <a:latin typeface="Calibri"/>
              </a:rPr>
              <a:t>Terceiro nível de tópicos</a:t>
            </a:r>
            <a:endParaRPr b="0" lang="pt-PT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2000" spc="-1" strike="noStrike">
                <a:solidFill>
                  <a:schemeClr val="dk1"/>
                </a:solidFill>
                <a:latin typeface="Calibri"/>
              </a:rPr>
              <a:t>Quarto nível de tópicos</a:t>
            </a:r>
            <a:endParaRPr b="0" lang="pt-PT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chemeClr val="dk1"/>
                </a:solidFill>
                <a:latin typeface="Calibri"/>
              </a:rPr>
              <a:t>Quinto nível de tópicos</a:t>
            </a:r>
            <a:endParaRPr b="0" lang="pt-PT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chemeClr val="dk1"/>
                </a:solidFill>
                <a:latin typeface="Calibri"/>
              </a:rPr>
              <a:t>Sexto nível de tópicos</a:t>
            </a:r>
            <a:endParaRPr b="0" lang="pt-PT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pc="-1" strike="noStrike">
                <a:solidFill>
                  <a:schemeClr val="dk1"/>
                </a:solidFill>
                <a:latin typeface="Calibri"/>
              </a:rPr>
              <a:t>Sétimo nível de tópicos</a:t>
            </a:r>
            <a:endParaRPr b="0" lang="pt-PT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image" Target="../media/image3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9143640" cy="5004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822960" y="1417320"/>
            <a:ext cx="74977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e6edf3"/>
                </a:solidFill>
                <a:latin typeface="Calibri"/>
                <a:ea typeface="Calibri"/>
              </a:rPr>
              <a:t>nopCommerce + OpenTelemetry</a:t>
            </a:r>
            <a:endParaRPr b="0" lang="pt-PT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822960" y="2423160"/>
            <a:ext cx="7497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7d8590"/>
                </a:solidFill>
                <a:latin typeface="Calibri"/>
                <a:ea typeface="Calibri"/>
              </a:rPr>
              <a:t>Checkout Flow Observability</a:t>
            </a:r>
            <a:endParaRPr b="0" lang="pt-PT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822960" y="3035880"/>
            <a:ext cx="2011320" cy="3636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0" y="4814280"/>
            <a:ext cx="9143640" cy="328680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365760" y="4814280"/>
            <a:ext cx="84121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d8590"/>
                </a:solidFill>
                <a:latin typeface="Calibri"/>
                <a:ea typeface="Calibri"/>
              </a:rPr>
              <a:t>Software Architectures · Assignment 1 · Bruno Tavares</a:t>
            </a:r>
            <a:endParaRPr b="0" lang="pt-PT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/>
          <p:cNvSpPr/>
          <p:nvPr/>
        </p:nvSpPr>
        <p:spPr>
          <a:xfrm>
            <a:off x="365760" y="274320"/>
            <a:ext cx="45360" cy="52992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1"/>
          <p:cNvSpPr/>
          <p:nvPr/>
        </p:nvSpPr>
        <p:spPr>
          <a:xfrm>
            <a:off x="502920" y="255960"/>
            <a:ext cx="83206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e6edf3"/>
                </a:solidFill>
                <a:latin typeface="Calibri"/>
                <a:ea typeface="Calibri"/>
              </a:rPr>
              <a:t>Instrumentation Decision</a:t>
            </a:r>
            <a:endParaRPr b="0" lang="pt-PT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2"/>
          <p:cNvSpPr/>
          <p:nvPr/>
        </p:nvSpPr>
        <p:spPr>
          <a:xfrm>
            <a:off x="365760" y="877680"/>
            <a:ext cx="8412120" cy="198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4840" bIns="-2484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3"/>
          <p:cNvSpPr/>
          <p:nvPr/>
        </p:nvSpPr>
        <p:spPr>
          <a:xfrm>
            <a:off x="0" y="4905720"/>
            <a:ext cx="9143640" cy="237240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Text 4"/>
          <p:cNvSpPr/>
          <p:nvPr/>
        </p:nvSpPr>
        <p:spPr>
          <a:xfrm>
            <a:off x="365760" y="4905720"/>
            <a:ext cx="8412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7d8590"/>
                </a:solidFill>
                <a:latin typeface="Calibri"/>
                <a:ea typeface="Calibri"/>
              </a:rPr>
              <a:t>Software Architectures · Assignment 1 · Bruno Tavares</a:t>
            </a:r>
            <a:endParaRPr b="0" lang="pt-P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5"/>
          <p:cNvSpPr/>
          <p:nvPr/>
        </p:nvSpPr>
        <p:spPr>
          <a:xfrm>
            <a:off x="365760" y="1005840"/>
            <a:ext cx="1782720" cy="42012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6"/>
          <p:cNvSpPr/>
          <p:nvPr/>
        </p:nvSpPr>
        <p:spPr>
          <a:xfrm>
            <a:off x="365760" y="1005840"/>
            <a:ext cx="17827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edf3"/>
                </a:solidFill>
                <a:latin typeface="Calibri"/>
                <a:ea typeface="Calibri"/>
              </a:rPr>
              <a:t>Browser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7"/>
          <p:cNvSpPr/>
          <p:nvPr/>
        </p:nvSpPr>
        <p:spPr>
          <a:xfrm>
            <a:off x="2148840" y="1195920"/>
            <a:ext cx="127800" cy="39960"/>
          </a:xfrm>
          <a:prstGeom prst="rect">
            <a:avLst/>
          </a:prstGeom>
          <a:solidFill>
            <a:srgbClr val="7d8590"/>
          </a:solidFill>
          <a:ln w="12700">
            <a:solidFill>
              <a:srgbClr val="7d85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680" bIns="-468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8"/>
          <p:cNvSpPr/>
          <p:nvPr/>
        </p:nvSpPr>
        <p:spPr>
          <a:xfrm>
            <a:off x="2240280" y="1170360"/>
            <a:ext cx="36360" cy="91080"/>
          </a:xfrm>
          <a:prstGeom prst="rect">
            <a:avLst/>
          </a:prstGeom>
          <a:solidFill>
            <a:srgbClr val="7d8590"/>
          </a:solidFill>
          <a:ln w="12700">
            <a:solidFill>
              <a:srgbClr val="7d85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9"/>
          <p:cNvSpPr/>
          <p:nvPr/>
        </p:nvSpPr>
        <p:spPr>
          <a:xfrm>
            <a:off x="2277000" y="1005840"/>
            <a:ext cx="1782720" cy="42012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 10"/>
          <p:cNvSpPr/>
          <p:nvPr/>
        </p:nvSpPr>
        <p:spPr>
          <a:xfrm>
            <a:off x="2277000" y="1005840"/>
            <a:ext cx="17827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edf3"/>
                </a:solidFill>
                <a:latin typeface="Calibri"/>
                <a:ea typeface="Calibri"/>
              </a:rPr>
              <a:t>CheckoutController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1"/>
          <p:cNvSpPr/>
          <p:nvPr/>
        </p:nvSpPr>
        <p:spPr>
          <a:xfrm>
            <a:off x="4060080" y="1195920"/>
            <a:ext cx="127800" cy="39960"/>
          </a:xfrm>
          <a:prstGeom prst="rect">
            <a:avLst/>
          </a:prstGeom>
          <a:solidFill>
            <a:srgbClr val="7d8590"/>
          </a:solidFill>
          <a:ln w="12700">
            <a:solidFill>
              <a:srgbClr val="7d85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680" bIns="-468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2"/>
          <p:cNvSpPr/>
          <p:nvPr/>
        </p:nvSpPr>
        <p:spPr>
          <a:xfrm>
            <a:off x="4151520" y="1170360"/>
            <a:ext cx="36360" cy="91080"/>
          </a:xfrm>
          <a:prstGeom prst="rect">
            <a:avLst/>
          </a:prstGeom>
          <a:solidFill>
            <a:srgbClr val="7d8590"/>
          </a:solidFill>
          <a:ln w="12700">
            <a:solidFill>
              <a:srgbClr val="7d85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3"/>
          <p:cNvSpPr/>
          <p:nvPr/>
        </p:nvSpPr>
        <p:spPr>
          <a:xfrm>
            <a:off x="4187880" y="1005840"/>
            <a:ext cx="1782720" cy="42012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 14"/>
          <p:cNvSpPr/>
          <p:nvPr/>
        </p:nvSpPr>
        <p:spPr>
          <a:xfrm>
            <a:off x="4187880" y="1005840"/>
            <a:ext cx="17827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11318"/>
                </a:solidFill>
                <a:latin typeface="Calibri"/>
                <a:ea typeface="Calibri"/>
              </a:rPr>
              <a:t>OrderProcessingService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15"/>
          <p:cNvSpPr/>
          <p:nvPr/>
        </p:nvSpPr>
        <p:spPr>
          <a:xfrm>
            <a:off x="5970960" y="1195920"/>
            <a:ext cx="127800" cy="39960"/>
          </a:xfrm>
          <a:prstGeom prst="rect">
            <a:avLst/>
          </a:prstGeom>
          <a:solidFill>
            <a:srgbClr val="7d8590"/>
          </a:solidFill>
          <a:ln w="12700">
            <a:solidFill>
              <a:srgbClr val="7d85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680" bIns="-468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16"/>
          <p:cNvSpPr/>
          <p:nvPr/>
        </p:nvSpPr>
        <p:spPr>
          <a:xfrm>
            <a:off x="6062400" y="1170360"/>
            <a:ext cx="36360" cy="91080"/>
          </a:xfrm>
          <a:prstGeom prst="rect">
            <a:avLst/>
          </a:prstGeom>
          <a:solidFill>
            <a:srgbClr val="7d8590"/>
          </a:solidFill>
          <a:ln w="12700">
            <a:solidFill>
              <a:srgbClr val="7d85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17"/>
          <p:cNvSpPr/>
          <p:nvPr/>
        </p:nvSpPr>
        <p:spPr>
          <a:xfrm>
            <a:off x="6099120" y="1005840"/>
            <a:ext cx="1782720" cy="42012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 18"/>
          <p:cNvSpPr/>
          <p:nvPr/>
        </p:nvSpPr>
        <p:spPr>
          <a:xfrm>
            <a:off x="6099120" y="1005840"/>
            <a:ext cx="17827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6edf3"/>
                </a:solidFill>
                <a:latin typeface="Calibri"/>
                <a:ea typeface="Calibri"/>
              </a:rPr>
              <a:t>SQL Server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19"/>
          <p:cNvSpPr/>
          <p:nvPr/>
        </p:nvSpPr>
        <p:spPr>
          <a:xfrm>
            <a:off x="365760" y="1572840"/>
            <a:ext cx="8412120" cy="198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4840" bIns="-2484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20"/>
          <p:cNvSpPr/>
          <p:nvPr/>
        </p:nvSpPr>
        <p:spPr>
          <a:xfrm>
            <a:off x="365760" y="1901880"/>
            <a:ext cx="50040" cy="5004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Text 21"/>
          <p:cNvSpPr/>
          <p:nvPr/>
        </p:nvSpPr>
        <p:spPr>
          <a:xfrm>
            <a:off x="530280" y="1719000"/>
            <a:ext cx="822924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6edf3"/>
                </a:solidFill>
                <a:latin typeface="Calibri"/>
                <a:ea typeface="Calibri"/>
              </a:rPr>
              <a:t>Chose "Customer places an order" — the most business-critical flow; if checkout fails, the store loses money</a:t>
            </a:r>
            <a:endParaRPr b="0" lang="pt-PT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22"/>
          <p:cNvSpPr/>
          <p:nvPr/>
        </p:nvSpPr>
        <p:spPr>
          <a:xfrm>
            <a:off x="365760" y="2670120"/>
            <a:ext cx="50040" cy="5004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Text 23"/>
          <p:cNvSpPr/>
          <p:nvPr/>
        </p:nvSpPr>
        <p:spPr>
          <a:xfrm>
            <a:off x="530280" y="2487240"/>
            <a:ext cx="822924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6edf3"/>
                </a:solidFill>
                <a:latin typeface="Calibri"/>
                <a:ea typeface="Calibri"/>
              </a:rPr>
              <a:t>Instrumented at OrderProcessingService.PlaceOrderAsync — where payment, persistence, notifications and events are orchestrated in a single method</a:t>
            </a:r>
            <a:endParaRPr b="0" lang="pt-PT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24"/>
          <p:cNvSpPr/>
          <p:nvPr/>
        </p:nvSpPr>
        <p:spPr>
          <a:xfrm>
            <a:off x="365760" y="3438000"/>
            <a:ext cx="50040" cy="5004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Text 25"/>
          <p:cNvSpPr/>
          <p:nvPr/>
        </p:nvSpPr>
        <p:spPr>
          <a:xfrm>
            <a:off x="530280" y="3255120"/>
            <a:ext cx="822924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6edf3"/>
                </a:solidFill>
                <a:latin typeface="Calibri"/>
                <a:ea typeface="Calibri"/>
              </a:rPr>
              <a:t>ASP.NET auto-instrumentation covers HTTP. SqlClient covers SQL. I only needed to instrument what's in between</a:t>
            </a:r>
            <a:endParaRPr b="0" lang="pt-PT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26"/>
          <p:cNvSpPr/>
          <p:nvPr/>
        </p:nvSpPr>
        <p:spPr>
          <a:xfrm>
            <a:off x="365760" y="4206240"/>
            <a:ext cx="50040" cy="5004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5400" bIns="54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Text 27"/>
          <p:cNvSpPr/>
          <p:nvPr/>
        </p:nvSpPr>
        <p:spPr>
          <a:xfrm>
            <a:off x="530280" y="4023360"/>
            <a:ext cx="822924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6edf3"/>
                </a:solidFill>
                <a:latin typeface="Calibri"/>
                <a:ea typeface="Calibri"/>
              </a:rPr>
              <a:t>Surgical approach: 3 files changed (OrderProcessingService.cs, Program.cs, NopTelemetryConstants.cs), business logic untouched, zero overhead if OTel SDK is absent</a:t>
            </a:r>
            <a:endParaRPr b="0" lang="pt-PT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hape 0"/>
          <p:cNvSpPr/>
          <p:nvPr/>
        </p:nvSpPr>
        <p:spPr>
          <a:xfrm>
            <a:off x="365760" y="274320"/>
            <a:ext cx="45360" cy="52992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1"/>
          <p:cNvSpPr/>
          <p:nvPr/>
        </p:nvSpPr>
        <p:spPr>
          <a:xfrm>
            <a:off x="502920" y="255960"/>
            <a:ext cx="83206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e6edf3"/>
                </a:solidFill>
                <a:latin typeface="Calibri"/>
                <a:ea typeface="Calibri"/>
              </a:rPr>
              <a:t>End-to-End Tracing</a:t>
            </a:r>
            <a:endParaRPr b="0" lang="pt-PT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Shape 2"/>
          <p:cNvSpPr/>
          <p:nvPr/>
        </p:nvSpPr>
        <p:spPr>
          <a:xfrm>
            <a:off x="365760" y="877680"/>
            <a:ext cx="8412120" cy="198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4840" bIns="-2484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Shape 3"/>
          <p:cNvSpPr/>
          <p:nvPr/>
        </p:nvSpPr>
        <p:spPr>
          <a:xfrm>
            <a:off x="0" y="4905720"/>
            <a:ext cx="9143640" cy="237240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4"/>
          <p:cNvSpPr/>
          <p:nvPr/>
        </p:nvSpPr>
        <p:spPr>
          <a:xfrm>
            <a:off x="365760" y="4905720"/>
            <a:ext cx="8412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7d8590"/>
                </a:solidFill>
                <a:latin typeface="Calibri"/>
                <a:ea typeface="Calibri"/>
              </a:rPr>
              <a:t>Software Architectures · Assignment 1 · Bruno Tavares</a:t>
            </a:r>
            <a:endParaRPr b="0" lang="pt-P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5"/>
          <p:cNvSpPr/>
          <p:nvPr/>
        </p:nvSpPr>
        <p:spPr>
          <a:xfrm>
            <a:off x="384120" y="996840"/>
            <a:ext cx="649188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7d8590"/>
                </a:solidFill>
                <a:latin typeface="Consolas"/>
                <a:ea typeface="Consolas"/>
              </a:rPr>
              <a:t>POST /checkout/OpcConfirmOrder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Shape 6"/>
          <p:cNvSpPr/>
          <p:nvPr/>
        </p:nvSpPr>
        <p:spPr>
          <a:xfrm>
            <a:off x="6949440" y="1014840"/>
            <a:ext cx="1828440" cy="119880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7"/>
          <p:cNvSpPr/>
          <p:nvPr/>
        </p:nvSpPr>
        <p:spPr>
          <a:xfrm>
            <a:off x="6949440" y="1014840"/>
            <a:ext cx="1828440" cy="1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d8590"/>
                </a:solidFill>
                <a:latin typeface="Calibri"/>
                <a:ea typeface="Calibri"/>
              </a:rPr>
              <a:t>auto - ASP.NET</a:t>
            </a:r>
            <a:endParaRPr b="0" lang="pt-PT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Shape 8"/>
          <p:cNvSpPr/>
          <p:nvPr/>
        </p:nvSpPr>
        <p:spPr>
          <a:xfrm>
            <a:off x="429840" y="1305000"/>
            <a:ext cx="145800" cy="144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0240" bIns="-3024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9"/>
          <p:cNvSpPr/>
          <p:nvPr/>
        </p:nvSpPr>
        <p:spPr>
          <a:xfrm>
            <a:off x="612720" y="1226520"/>
            <a:ext cx="629064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nsolas"/>
                <a:ea typeface="Consolas"/>
              </a:rPr>
              <a:t>checkout.place_order</a:t>
            </a:r>
            <a:endParaRPr b="0" lang="pt-PT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Shape 10"/>
          <p:cNvSpPr/>
          <p:nvPr/>
        </p:nvSpPr>
        <p:spPr>
          <a:xfrm>
            <a:off x="6949440" y="1244880"/>
            <a:ext cx="1828440" cy="119880"/>
          </a:xfrm>
          <a:prstGeom prst="rect">
            <a:avLst/>
          </a:prstGeom>
          <a:solidFill>
            <a:srgbClr val="1a2620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11"/>
          <p:cNvSpPr/>
          <p:nvPr/>
        </p:nvSpPr>
        <p:spPr>
          <a:xfrm>
            <a:off x="6949440" y="1244880"/>
            <a:ext cx="1828440" cy="1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3fb950"/>
                </a:solidFill>
                <a:latin typeface="Calibri"/>
                <a:ea typeface="Calibri"/>
              </a:rPr>
              <a:t>custom</a:t>
            </a:r>
            <a:endParaRPr b="0" lang="pt-PT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Shape 12"/>
          <p:cNvSpPr/>
          <p:nvPr/>
        </p:nvSpPr>
        <p:spPr>
          <a:xfrm>
            <a:off x="658440" y="1534680"/>
            <a:ext cx="145800" cy="144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0240" bIns="-3024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Text 13"/>
          <p:cNvSpPr/>
          <p:nvPr/>
        </p:nvSpPr>
        <p:spPr>
          <a:xfrm>
            <a:off x="841320" y="1456560"/>
            <a:ext cx="60894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nsolas"/>
                <a:ea typeface="Consolas"/>
              </a:rPr>
              <a:t>checkout.process_payment</a:t>
            </a:r>
            <a:endParaRPr b="0" lang="pt-PT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Shape 14"/>
          <p:cNvSpPr/>
          <p:nvPr/>
        </p:nvSpPr>
        <p:spPr>
          <a:xfrm>
            <a:off x="6949440" y="1474920"/>
            <a:ext cx="1828440" cy="119880"/>
          </a:xfrm>
          <a:prstGeom prst="rect">
            <a:avLst/>
          </a:prstGeom>
          <a:solidFill>
            <a:srgbClr val="1a2620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Text 15"/>
          <p:cNvSpPr/>
          <p:nvPr/>
        </p:nvSpPr>
        <p:spPr>
          <a:xfrm>
            <a:off x="6949440" y="1474920"/>
            <a:ext cx="1828440" cy="1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3fb950"/>
                </a:solidFill>
                <a:latin typeface="Calibri"/>
                <a:ea typeface="Calibri"/>
              </a:rPr>
              <a:t>custom</a:t>
            </a:r>
            <a:endParaRPr b="0" lang="pt-PT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Shape 16"/>
          <p:cNvSpPr/>
          <p:nvPr/>
        </p:nvSpPr>
        <p:spPr>
          <a:xfrm>
            <a:off x="658440" y="1764720"/>
            <a:ext cx="145800" cy="144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0240" bIns="-3024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Text 17"/>
          <p:cNvSpPr/>
          <p:nvPr/>
        </p:nvSpPr>
        <p:spPr>
          <a:xfrm>
            <a:off x="841320" y="1686240"/>
            <a:ext cx="60894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nsolas"/>
                <a:ea typeface="Consolas"/>
              </a:rPr>
              <a:t>checkout.save_order</a:t>
            </a:r>
            <a:endParaRPr b="0" lang="pt-PT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Shape 18"/>
          <p:cNvSpPr/>
          <p:nvPr/>
        </p:nvSpPr>
        <p:spPr>
          <a:xfrm>
            <a:off x="6949440" y="1704600"/>
            <a:ext cx="1828440" cy="119880"/>
          </a:xfrm>
          <a:prstGeom prst="rect">
            <a:avLst/>
          </a:prstGeom>
          <a:solidFill>
            <a:srgbClr val="1a2620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Text 19"/>
          <p:cNvSpPr/>
          <p:nvPr/>
        </p:nvSpPr>
        <p:spPr>
          <a:xfrm>
            <a:off x="6949440" y="1704600"/>
            <a:ext cx="1828440" cy="1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3fb950"/>
                </a:solidFill>
                <a:latin typeface="Calibri"/>
                <a:ea typeface="Calibri"/>
              </a:rPr>
              <a:t>custom</a:t>
            </a:r>
            <a:endParaRPr b="0" lang="pt-PT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Shape 20"/>
          <p:cNvSpPr/>
          <p:nvPr/>
        </p:nvSpPr>
        <p:spPr>
          <a:xfrm>
            <a:off x="887040" y="1994760"/>
            <a:ext cx="145800" cy="144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0240" bIns="-3024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Text 21"/>
          <p:cNvSpPr/>
          <p:nvPr/>
        </p:nvSpPr>
        <p:spPr>
          <a:xfrm>
            <a:off x="1069920" y="1916280"/>
            <a:ext cx="588852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7d8590"/>
                </a:solidFill>
                <a:latin typeface="Consolas"/>
                <a:ea typeface="Consolas"/>
              </a:rPr>
              <a:t>SQL queries</a:t>
            </a:r>
            <a:endParaRPr b="0" lang="pt-PT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Shape 22"/>
          <p:cNvSpPr/>
          <p:nvPr/>
        </p:nvSpPr>
        <p:spPr>
          <a:xfrm>
            <a:off x="6949440" y="1934640"/>
            <a:ext cx="1828440" cy="119880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Text 23"/>
          <p:cNvSpPr/>
          <p:nvPr/>
        </p:nvSpPr>
        <p:spPr>
          <a:xfrm>
            <a:off x="6949440" y="1934640"/>
            <a:ext cx="1828440" cy="1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d8590"/>
                </a:solidFill>
                <a:latin typeface="Calibri"/>
                <a:ea typeface="Calibri"/>
              </a:rPr>
              <a:t>auto - SqlClient</a:t>
            </a:r>
            <a:endParaRPr b="0" lang="pt-PT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Shape 24"/>
          <p:cNvSpPr/>
          <p:nvPr/>
        </p:nvSpPr>
        <p:spPr>
          <a:xfrm>
            <a:off x="658440" y="2224440"/>
            <a:ext cx="145800" cy="144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0240" bIns="-3024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Text 25"/>
          <p:cNvSpPr/>
          <p:nvPr/>
        </p:nvSpPr>
        <p:spPr>
          <a:xfrm>
            <a:off x="841320" y="2146320"/>
            <a:ext cx="60894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nsolas"/>
                <a:ea typeface="Consolas"/>
              </a:rPr>
              <a:t>checkout.send_notifications</a:t>
            </a:r>
            <a:endParaRPr b="0" lang="pt-PT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Shape 26"/>
          <p:cNvSpPr/>
          <p:nvPr/>
        </p:nvSpPr>
        <p:spPr>
          <a:xfrm>
            <a:off x="6949440" y="2164680"/>
            <a:ext cx="1828440" cy="119880"/>
          </a:xfrm>
          <a:prstGeom prst="rect">
            <a:avLst/>
          </a:prstGeom>
          <a:solidFill>
            <a:srgbClr val="1a2620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Text 27"/>
          <p:cNvSpPr/>
          <p:nvPr/>
        </p:nvSpPr>
        <p:spPr>
          <a:xfrm>
            <a:off x="6949440" y="2164680"/>
            <a:ext cx="1828440" cy="1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3fb950"/>
                </a:solidFill>
                <a:latin typeface="Calibri"/>
                <a:ea typeface="Calibri"/>
              </a:rPr>
              <a:t>custom</a:t>
            </a:r>
            <a:endParaRPr b="0" lang="pt-PT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Shape 28"/>
          <p:cNvSpPr/>
          <p:nvPr/>
        </p:nvSpPr>
        <p:spPr>
          <a:xfrm>
            <a:off x="658440" y="2454480"/>
            <a:ext cx="145800" cy="144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30240" bIns="-3024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Text 29"/>
          <p:cNvSpPr/>
          <p:nvPr/>
        </p:nvSpPr>
        <p:spPr>
          <a:xfrm>
            <a:off x="841320" y="2376000"/>
            <a:ext cx="60894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6edf3"/>
                </a:solidFill>
                <a:latin typeface="Consolas"/>
                <a:ea typeface="Consolas"/>
              </a:rPr>
              <a:t>checkout.publish_event</a:t>
            </a:r>
            <a:endParaRPr b="0" lang="pt-PT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Shape 30"/>
          <p:cNvSpPr/>
          <p:nvPr/>
        </p:nvSpPr>
        <p:spPr>
          <a:xfrm>
            <a:off x="6949440" y="2394360"/>
            <a:ext cx="1828440" cy="119880"/>
          </a:xfrm>
          <a:prstGeom prst="rect">
            <a:avLst/>
          </a:prstGeom>
          <a:solidFill>
            <a:srgbClr val="1a2620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Text 31"/>
          <p:cNvSpPr/>
          <p:nvPr/>
        </p:nvSpPr>
        <p:spPr>
          <a:xfrm>
            <a:off x="6949440" y="2394360"/>
            <a:ext cx="1828440" cy="1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3fb950"/>
                </a:solidFill>
                <a:latin typeface="Calibri"/>
                <a:ea typeface="Calibri"/>
              </a:rPr>
              <a:t>custom</a:t>
            </a:r>
            <a:endParaRPr b="0" lang="pt-PT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Shape 32"/>
          <p:cNvSpPr/>
          <p:nvPr/>
        </p:nvSpPr>
        <p:spPr>
          <a:xfrm>
            <a:off x="365760" y="2651760"/>
            <a:ext cx="8430480" cy="198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4840" bIns="-2484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Shape 33"/>
          <p:cNvSpPr/>
          <p:nvPr/>
        </p:nvSpPr>
        <p:spPr>
          <a:xfrm>
            <a:off x="365760" y="2715840"/>
            <a:ext cx="8430480" cy="191988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6" name="Image 0" descr="preencoded.png"/>
          <p:cNvPicPr/>
          <p:nvPr/>
        </p:nvPicPr>
        <p:blipFill>
          <a:blip r:embed="rId1"/>
          <a:stretch/>
        </p:blipFill>
        <p:spPr>
          <a:xfrm>
            <a:off x="365760" y="2715840"/>
            <a:ext cx="8430480" cy="1919880"/>
          </a:xfrm>
          <a:prstGeom prst="rect">
            <a:avLst/>
          </a:prstGeom>
          <a:ln w="0">
            <a:noFill/>
          </a:ln>
        </p:spPr>
      </p:pic>
      <p:sp>
        <p:nvSpPr>
          <p:cNvPr id="77" name="Text 34"/>
          <p:cNvSpPr/>
          <p:nvPr/>
        </p:nvSpPr>
        <p:spPr>
          <a:xfrm>
            <a:off x="365760" y="4700160"/>
            <a:ext cx="8430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7d8590"/>
                </a:solidFill>
                <a:latin typeface="Calibri"/>
                <a:ea typeface="Calibri"/>
              </a:rPr>
              <a:t>Included: order.total, payment.method, order.items   |   Excluded: emails, addresses, names, card numbers (zero PII)</a:t>
            </a:r>
            <a:endParaRPr b="0" lang="pt-PT" sz="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Shape 0"/>
          <p:cNvSpPr/>
          <p:nvPr/>
        </p:nvSpPr>
        <p:spPr>
          <a:xfrm>
            <a:off x="365760" y="274320"/>
            <a:ext cx="45360" cy="52992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 1"/>
          <p:cNvSpPr/>
          <p:nvPr/>
        </p:nvSpPr>
        <p:spPr>
          <a:xfrm>
            <a:off x="502920" y="255960"/>
            <a:ext cx="83206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e6edf3"/>
                </a:solidFill>
                <a:latin typeface="Calibri"/>
                <a:ea typeface="Calibri"/>
              </a:rPr>
              <a:t>3 Custom Metrics — The 2am Test</a:t>
            </a:r>
            <a:endParaRPr b="0" lang="pt-PT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Shape 2"/>
          <p:cNvSpPr/>
          <p:nvPr/>
        </p:nvSpPr>
        <p:spPr>
          <a:xfrm>
            <a:off x="365760" y="877680"/>
            <a:ext cx="8412120" cy="198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4840" bIns="-2484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Shape 3"/>
          <p:cNvSpPr/>
          <p:nvPr/>
        </p:nvSpPr>
        <p:spPr>
          <a:xfrm>
            <a:off x="0" y="4905720"/>
            <a:ext cx="9143640" cy="237240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Text 4"/>
          <p:cNvSpPr/>
          <p:nvPr/>
        </p:nvSpPr>
        <p:spPr>
          <a:xfrm>
            <a:off x="365760" y="4905720"/>
            <a:ext cx="8412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7d8590"/>
                </a:solidFill>
                <a:latin typeface="Calibri"/>
                <a:ea typeface="Calibri"/>
              </a:rPr>
              <a:t>Software Architectures · Assignment 1 · Bruno Tavares</a:t>
            </a:r>
            <a:endParaRPr b="0" lang="pt-P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Shape 5"/>
          <p:cNvSpPr/>
          <p:nvPr/>
        </p:nvSpPr>
        <p:spPr>
          <a:xfrm>
            <a:off x="365760" y="1005840"/>
            <a:ext cx="2925720" cy="36540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 6"/>
          <p:cNvSpPr/>
          <p:nvPr/>
        </p:nvSpPr>
        <p:spPr>
          <a:xfrm>
            <a:off x="438840" y="1005840"/>
            <a:ext cx="2834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11318"/>
                </a:solidFill>
                <a:latin typeface="Calibri"/>
                <a:ea typeface="Calibri"/>
              </a:rPr>
              <a:t>Metric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Shape 7"/>
          <p:cNvSpPr/>
          <p:nvPr/>
        </p:nvSpPr>
        <p:spPr>
          <a:xfrm>
            <a:off x="3383280" y="1005840"/>
            <a:ext cx="1005480" cy="36540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Text 8"/>
          <p:cNvSpPr/>
          <p:nvPr/>
        </p:nvSpPr>
        <p:spPr>
          <a:xfrm>
            <a:off x="3456360" y="100584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11318"/>
                </a:solidFill>
                <a:latin typeface="Calibri"/>
                <a:ea typeface="Calibri"/>
              </a:rPr>
              <a:t>Type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Shape 9"/>
          <p:cNvSpPr/>
          <p:nvPr/>
        </p:nvSpPr>
        <p:spPr>
          <a:xfrm>
            <a:off x="4480560" y="1005840"/>
            <a:ext cx="4571640" cy="36540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 10"/>
          <p:cNvSpPr/>
          <p:nvPr/>
        </p:nvSpPr>
        <p:spPr>
          <a:xfrm>
            <a:off x="4553640" y="1005840"/>
            <a:ext cx="4480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11318"/>
                </a:solidFill>
                <a:latin typeface="Calibri"/>
                <a:ea typeface="Calibri"/>
              </a:rPr>
              <a:t>If it fires at 2am, the on-call engineer knows...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Shape 11"/>
          <p:cNvSpPr/>
          <p:nvPr/>
        </p:nvSpPr>
        <p:spPr>
          <a:xfrm>
            <a:off x="365760" y="1408320"/>
            <a:ext cx="2925720" cy="71280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12"/>
          <p:cNvSpPr/>
          <p:nvPr/>
        </p:nvSpPr>
        <p:spPr>
          <a:xfrm>
            <a:off x="457200" y="1408320"/>
            <a:ext cx="279756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9c0ff"/>
                </a:solidFill>
                <a:latin typeface="Consolas"/>
                <a:ea typeface="Consolas"/>
              </a:rPr>
              <a:t>nop.checkout.place_order.attempts</a:t>
            </a:r>
            <a:endParaRPr b="0" lang="pt-PT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Shape 13"/>
          <p:cNvSpPr/>
          <p:nvPr/>
        </p:nvSpPr>
        <p:spPr>
          <a:xfrm>
            <a:off x="3383280" y="1408320"/>
            <a:ext cx="1005480" cy="71280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 14"/>
          <p:cNvSpPr/>
          <p:nvPr/>
        </p:nvSpPr>
        <p:spPr>
          <a:xfrm>
            <a:off x="3474720" y="1408320"/>
            <a:ext cx="8773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8a6ff"/>
                </a:solidFill>
                <a:latin typeface="Calibri"/>
                <a:ea typeface="Calibri"/>
              </a:rPr>
              <a:t>Counter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Shape 15"/>
          <p:cNvSpPr/>
          <p:nvPr/>
        </p:nvSpPr>
        <p:spPr>
          <a:xfrm>
            <a:off x="4480560" y="1408320"/>
            <a:ext cx="4571640" cy="71280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16"/>
          <p:cNvSpPr/>
          <p:nvPr/>
        </p:nvSpPr>
        <p:spPr>
          <a:xfrm>
            <a:off x="4572000" y="1408320"/>
            <a:ext cx="444348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Checkout volume dropped or spiked abnormally — checkout may be unreachable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Shape 17"/>
          <p:cNvSpPr/>
          <p:nvPr/>
        </p:nvSpPr>
        <p:spPr>
          <a:xfrm>
            <a:off x="365760" y="2157840"/>
            <a:ext cx="2925720" cy="712800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 18"/>
          <p:cNvSpPr/>
          <p:nvPr/>
        </p:nvSpPr>
        <p:spPr>
          <a:xfrm>
            <a:off x="457200" y="2157840"/>
            <a:ext cx="279756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9c0ff"/>
                </a:solidFill>
                <a:latin typeface="Consolas"/>
                <a:ea typeface="Consolas"/>
              </a:rPr>
              <a:t>nop.checkout.place_order.failures</a:t>
            </a:r>
            <a:endParaRPr b="0" lang="pt-PT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Shape 19"/>
          <p:cNvSpPr/>
          <p:nvPr/>
        </p:nvSpPr>
        <p:spPr>
          <a:xfrm>
            <a:off x="3383280" y="2157840"/>
            <a:ext cx="1005480" cy="712800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20"/>
          <p:cNvSpPr/>
          <p:nvPr/>
        </p:nvSpPr>
        <p:spPr>
          <a:xfrm>
            <a:off x="3474720" y="2157840"/>
            <a:ext cx="8773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8a6ff"/>
                </a:solidFill>
                <a:latin typeface="Calibri"/>
                <a:ea typeface="Calibri"/>
              </a:rPr>
              <a:t>Counter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Shape 21"/>
          <p:cNvSpPr/>
          <p:nvPr/>
        </p:nvSpPr>
        <p:spPr>
          <a:xfrm>
            <a:off x="4480560" y="2157840"/>
            <a:ext cx="4571640" cy="712800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 22"/>
          <p:cNvSpPr/>
          <p:nvPr/>
        </p:nvSpPr>
        <p:spPr>
          <a:xfrm>
            <a:off x="4572000" y="2157840"/>
            <a:ext cx="444348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The checkout pipeline is broken — users cannot complete orders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Shape 23"/>
          <p:cNvSpPr/>
          <p:nvPr/>
        </p:nvSpPr>
        <p:spPr>
          <a:xfrm>
            <a:off x="365760" y="2907720"/>
            <a:ext cx="2925720" cy="71280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24"/>
          <p:cNvSpPr/>
          <p:nvPr/>
        </p:nvSpPr>
        <p:spPr>
          <a:xfrm>
            <a:off x="457200" y="2907720"/>
            <a:ext cx="279756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9c0ff"/>
                </a:solidFill>
                <a:latin typeface="Consolas"/>
                <a:ea typeface="Consolas"/>
              </a:rPr>
              <a:t>nop.checkout.place_order.duration</a:t>
            </a:r>
            <a:endParaRPr b="0" lang="pt-PT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Shape 25"/>
          <p:cNvSpPr/>
          <p:nvPr/>
        </p:nvSpPr>
        <p:spPr>
          <a:xfrm>
            <a:off x="3383280" y="2907720"/>
            <a:ext cx="1005480" cy="71280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 26"/>
          <p:cNvSpPr/>
          <p:nvPr/>
        </p:nvSpPr>
        <p:spPr>
          <a:xfrm>
            <a:off x="3474720" y="2907720"/>
            <a:ext cx="8773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58a6ff"/>
                </a:solidFill>
                <a:latin typeface="Calibri"/>
                <a:ea typeface="Calibri"/>
              </a:rPr>
              <a:t>Histogram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Shape 27"/>
          <p:cNvSpPr/>
          <p:nvPr/>
        </p:nvSpPr>
        <p:spPr>
          <a:xfrm>
            <a:off x="4480560" y="2907720"/>
            <a:ext cx="4571640" cy="71280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28"/>
          <p:cNvSpPr/>
          <p:nvPr/>
        </p:nvSpPr>
        <p:spPr>
          <a:xfrm>
            <a:off x="4572000" y="2907720"/>
            <a:ext cx="444348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DB or payment gateway is degraded — p95 rising before visible errors appear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Shape 29"/>
          <p:cNvSpPr/>
          <p:nvPr/>
        </p:nvSpPr>
        <p:spPr>
          <a:xfrm>
            <a:off x="365760" y="4297680"/>
            <a:ext cx="8412120" cy="347040"/>
          </a:xfrm>
          <a:prstGeom prst="rect">
            <a:avLst/>
          </a:prstGeom>
          <a:solidFill>
            <a:srgbClr val="1c2128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Text 30"/>
          <p:cNvSpPr/>
          <p:nvPr/>
        </p:nvSpPr>
        <p:spPr>
          <a:xfrm>
            <a:off x="530280" y="4297680"/>
            <a:ext cx="81378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8722a"/>
                </a:solidFill>
                <a:latin typeface="Calibri"/>
                <a:ea typeface="Calibri"/>
              </a:rPr>
              <a:t>attempts + failures  →  error rate in Grafana     |     duration  →  detects degradation before failures become visible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0"/>
          <p:cNvSpPr/>
          <p:nvPr/>
        </p:nvSpPr>
        <p:spPr>
          <a:xfrm>
            <a:off x="365760" y="274320"/>
            <a:ext cx="45360" cy="52992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 1"/>
          <p:cNvSpPr/>
          <p:nvPr/>
        </p:nvSpPr>
        <p:spPr>
          <a:xfrm>
            <a:off x="502920" y="255960"/>
            <a:ext cx="83206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e6edf3"/>
                </a:solidFill>
                <a:latin typeface="Calibri"/>
                <a:ea typeface="Calibri"/>
              </a:rPr>
              <a:t>Privacy — Defence in Depth</a:t>
            </a:r>
            <a:endParaRPr b="0" lang="pt-PT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Shape 2"/>
          <p:cNvSpPr/>
          <p:nvPr/>
        </p:nvSpPr>
        <p:spPr>
          <a:xfrm>
            <a:off x="365760" y="877680"/>
            <a:ext cx="8412120" cy="198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4840" bIns="-2484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Shape 3"/>
          <p:cNvSpPr/>
          <p:nvPr/>
        </p:nvSpPr>
        <p:spPr>
          <a:xfrm>
            <a:off x="0" y="4905720"/>
            <a:ext cx="9143640" cy="237240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 4"/>
          <p:cNvSpPr/>
          <p:nvPr/>
        </p:nvSpPr>
        <p:spPr>
          <a:xfrm>
            <a:off x="365760" y="4905720"/>
            <a:ext cx="8412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7d8590"/>
                </a:solidFill>
                <a:latin typeface="Calibri"/>
                <a:ea typeface="Calibri"/>
              </a:rPr>
              <a:t>Software Architectures · Assignment 1 · Bruno Tavares</a:t>
            </a:r>
            <a:endParaRPr b="0" lang="pt-P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Shape 5"/>
          <p:cNvSpPr/>
          <p:nvPr/>
        </p:nvSpPr>
        <p:spPr>
          <a:xfrm>
            <a:off x="365760" y="987480"/>
            <a:ext cx="4160160" cy="306288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Shape 6"/>
          <p:cNvSpPr/>
          <p:nvPr/>
        </p:nvSpPr>
        <p:spPr>
          <a:xfrm>
            <a:off x="365760" y="987480"/>
            <a:ext cx="4160160" cy="36360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Text 7"/>
          <p:cNvSpPr/>
          <p:nvPr/>
        </p:nvSpPr>
        <p:spPr>
          <a:xfrm>
            <a:off x="511920" y="1078920"/>
            <a:ext cx="3940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3fb950"/>
                </a:solidFill>
                <a:latin typeface="Calibri"/>
                <a:ea typeface="Calibri"/>
              </a:rPr>
              <a:t>In code</a:t>
            </a:r>
            <a:endParaRPr b="0" lang="pt-PT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Shape 8"/>
          <p:cNvSpPr/>
          <p:nvPr/>
        </p:nvSpPr>
        <p:spPr>
          <a:xfrm>
            <a:off x="511920" y="1682640"/>
            <a:ext cx="82080" cy="8208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9"/>
          <p:cNvSpPr/>
          <p:nvPr/>
        </p:nvSpPr>
        <p:spPr>
          <a:xfrm>
            <a:off x="658440" y="1554480"/>
            <a:ext cx="375768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Span attributes are strictly operational: order.total, payment.method, order.items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Shape 10"/>
          <p:cNvSpPr/>
          <p:nvPr/>
        </p:nvSpPr>
        <p:spPr>
          <a:xfrm>
            <a:off x="511920" y="2487240"/>
            <a:ext cx="82080" cy="8208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Text 11"/>
          <p:cNvSpPr/>
          <p:nvPr/>
        </p:nvSpPr>
        <p:spPr>
          <a:xfrm>
            <a:off x="658440" y="2359080"/>
            <a:ext cx="375768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No emails, addresses, names or card numbers are ever recorded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Shape 12"/>
          <p:cNvSpPr/>
          <p:nvPr/>
        </p:nvSpPr>
        <p:spPr>
          <a:xfrm>
            <a:off x="511920" y="3291840"/>
            <a:ext cx="82080" cy="8208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 13"/>
          <p:cNvSpPr/>
          <p:nvPr/>
        </p:nvSpPr>
        <p:spPr>
          <a:xfrm>
            <a:off x="658440" y="3163680"/>
            <a:ext cx="375768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Explicit decision for every attribute — full control at the point of instrumentation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Shape 14"/>
          <p:cNvSpPr/>
          <p:nvPr/>
        </p:nvSpPr>
        <p:spPr>
          <a:xfrm>
            <a:off x="4754880" y="987480"/>
            <a:ext cx="4160160" cy="306288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Shape 15"/>
          <p:cNvSpPr/>
          <p:nvPr/>
        </p:nvSpPr>
        <p:spPr>
          <a:xfrm>
            <a:off x="4754880" y="987480"/>
            <a:ext cx="4160160" cy="3636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 16"/>
          <p:cNvSpPr/>
          <p:nvPr/>
        </p:nvSpPr>
        <p:spPr>
          <a:xfrm>
            <a:off x="4901040" y="1078920"/>
            <a:ext cx="3940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e8722a"/>
                </a:solidFill>
                <a:latin typeface="Calibri"/>
                <a:ea typeface="Calibri"/>
              </a:rPr>
              <a:t>OTel Collector — pii-redact processor</a:t>
            </a:r>
            <a:endParaRPr b="0" lang="pt-PT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Shape 17"/>
          <p:cNvSpPr/>
          <p:nvPr/>
        </p:nvSpPr>
        <p:spPr>
          <a:xfrm>
            <a:off x="4901040" y="1682640"/>
            <a:ext cx="82080" cy="82080"/>
          </a:xfrm>
          <a:prstGeom prst="ellipse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 18"/>
          <p:cNvSpPr/>
          <p:nvPr/>
        </p:nvSpPr>
        <p:spPr>
          <a:xfrm>
            <a:off x="5047560" y="1554480"/>
            <a:ext cx="375768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Deletes before export: authorization headers, cookies, emails, SQL statements, query strings, request bodies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Shape 19"/>
          <p:cNvSpPr/>
          <p:nvPr/>
        </p:nvSpPr>
        <p:spPr>
          <a:xfrm>
            <a:off x="4901040" y="2487240"/>
            <a:ext cx="82080" cy="82080"/>
          </a:xfrm>
          <a:prstGeom prst="ellipse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Text 20"/>
          <p:cNvSpPr/>
          <p:nvPr/>
        </p:nvSpPr>
        <p:spPr>
          <a:xfrm>
            <a:off x="5047560" y="2359080"/>
            <a:ext cx="375768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Why here? Auto-instrumentation (ASP.NET, SqlClient) can capture PII without my control — the Collector is the last barrier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Shape 21"/>
          <p:cNvSpPr/>
          <p:nvPr/>
        </p:nvSpPr>
        <p:spPr>
          <a:xfrm>
            <a:off x="4901040" y="3291840"/>
            <a:ext cx="82080" cy="82080"/>
          </a:xfrm>
          <a:prstGeom prst="ellipse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3320" bIns="1332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ext 22"/>
          <p:cNvSpPr/>
          <p:nvPr/>
        </p:nvSpPr>
        <p:spPr>
          <a:xfrm>
            <a:off x="5047560" y="3163680"/>
            <a:ext cx="375768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Even if something escapes in code, it is filtered here before reaching Jaeger or Prometheus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Shape 23"/>
          <p:cNvSpPr/>
          <p:nvPr/>
        </p:nvSpPr>
        <p:spPr>
          <a:xfrm>
            <a:off x="365760" y="4160520"/>
            <a:ext cx="8412120" cy="347040"/>
          </a:xfrm>
          <a:prstGeom prst="rect">
            <a:avLst/>
          </a:prstGeom>
          <a:solidFill>
            <a:srgbClr val="1c1215"/>
          </a:solidFill>
          <a:ln w="12700">
            <a:solidFill>
              <a:srgbClr val="f8514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 24"/>
          <p:cNvSpPr/>
          <p:nvPr/>
        </p:nvSpPr>
        <p:spPr>
          <a:xfrm>
            <a:off x="530280" y="4160520"/>
            <a:ext cx="81378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85149"/>
                </a:solidFill>
                <a:latin typeface="Calibri"/>
                <a:ea typeface="Calibri"/>
              </a:rPr>
              <a:t>Rejected alternative: filtering only in code — fragile, auto-instrumentation escapes our control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0"/>
          <p:cNvSpPr/>
          <p:nvPr/>
        </p:nvSpPr>
        <p:spPr>
          <a:xfrm>
            <a:off x="365760" y="274320"/>
            <a:ext cx="45360" cy="52992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1"/>
          <p:cNvSpPr/>
          <p:nvPr/>
        </p:nvSpPr>
        <p:spPr>
          <a:xfrm>
            <a:off x="502920" y="255960"/>
            <a:ext cx="83206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e6edf3"/>
                </a:solidFill>
                <a:latin typeface="Calibri"/>
                <a:ea typeface="Calibri"/>
              </a:rPr>
              <a:t>What I Did NOT Instrument — and Why</a:t>
            </a:r>
            <a:endParaRPr b="0" lang="pt-PT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Shape 2"/>
          <p:cNvSpPr/>
          <p:nvPr/>
        </p:nvSpPr>
        <p:spPr>
          <a:xfrm>
            <a:off x="365760" y="877680"/>
            <a:ext cx="8412120" cy="198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4840" bIns="-2484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Shape 3"/>
          <p:cNvSpPr/>
          <p:nvPr/>
        </p:nvSpPr>
        <p:spPr>
          <a:xfrm>
            <a:off x="0" y="4905720"/>
            <a:ext cx="9143640" cy="237240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Text 4"/>
          <p:cNvSpPr/>
          <p:nvPr/>
        </p:nvSpPr>
        <p:spPr>
          <a:xfrm>
            <a:off x="365760" y="4905720"/>
            <a:ext cx="8412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7d8590"/>
                </a:solidFill>
                <a:latin typeface="Calibri"/>
                <a:ea typeface="Calibri"/>
              </a:rPr>
              <a:t>Software Architectures · Assignment 1 · Bruno Tavares</a:t>
            </a:r>
            <a:endParaRPr b="0" lang="pt-P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Shape 5"/>
          <p:cNvSpPr/>
          <p:nvPr/>
        </p:nvSpPr>
        <p:spPr>
          <a:xfrm>
            <a:off x="365760" y="1005840"/>
            <a:ext cx="2559960" cy="36540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Text 6"/>
          <p:cNvSpPr/>
          <p:nvPr/>
        </p:nvSpPr>
        <p:spPr>
          <a:xfrm>
            <a:off x="457200" y="1005840"/>
            <a:ext cx="2431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722a"/>
                </a:solidFill>
                <a:latin typeface="Calibri"/>
                <a:ea typeface="Calibri"/>
              </a:rPr>
              <a:t>Not instrumented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Shape 7"/>
          <p:cNvSpPr/>
          <p:nvPr/>
        </p:nvSpPr>
        <p:spPr>
          <a:xfrm>
            <a:off x="3017520" y="1005840"/>
            <a:ext cx="5760360" cy="36540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Text 8"/>
          <p:cNvSpPr/>
          <p:nvPr/>
        </p:nvSpPr>
        <p:spPr>
          <a:xfrm>
            <a:off x="3108960" y="1005840"/>
            <a:ext cx="5632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8722a"/>
                </a:solidFill>
                <a:latin typeface="Calibri"/>
                <a:ea typeface="Calibri"/>
              </a:rPr>
              <a:t>Reasoning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Shape 9"/>
          <p:cNvSpPr/>
          <p:nvPr/>
        </p:nvSpPr>
        <p:spPr>
          <a:xfrm>
            <a:off x="365760" y="1408320"/>
            <a:ext cx="2559960" cy="62136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 10"/>
          <p:cNvSpPr/>
          <p:nvPr/>
        </p:nvSpPr>
        <p:spPr>
          <a:xfrm>
            <a:off x="457200" y="1408320"/>
            <a:ext cx="243180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Controllers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Shape 11"/>
          <p:cNvSpPr/>
          <p:nvPr/>
        </p:nvSpPr>
        <p:spPr>
          <a:xfrm>
            <a:off x="3017520" y="1408320"/>
            <a:ext cx="5760360" cy="62136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 12"/>
          <p:cNvSpPr/>
          <p:nvPr/>
        </p:nvSpPr>
        <p:spPr>
          <a:xfrm>
            <a:off x="3108960" y="1408320"/>
            <a:ext cx="563220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d8590"/>
                </a:solidFill>
                <a:latin typeface="Calibri"/>
                <a:ea typeface="Calibri"/>
              </a:rPr>
              <a:t>ASP.NET auto-instrumentation already covers all HTTP spans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Shape 13"/>
          <p:cNvSpPr/>
          <p:nvPr/>
        </p:nvSpPr>
        <p:spPr>
          <a:xfrm>
            <a:off x="365760" y="2066400"/>
            <a:ext cx="2559960" cy="621360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 14"/>
          <p:cNvSpPr/>
          <p:nvPr/>
        </p:nvSpPr>
        <p:spPr>
          <a:xfrm>
            <a:off x="457200" y="2066400"/>
            <a:ext cx="243180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Generic EventPublisher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hape 15"/>
          <p:cNvSpPr/>
          <p:nvPr/>
        </p:nvSpPr>
        <p:spPr>
          <a:xfrm>
            <a:off x="3017520" y="2066400"/>
            <a:ext cx="5760360" cy="621360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Text 16"/>
          <p:cNvSpPr/>
          <p:nvPr/>
        </p:nvSpPr>
        <p:spPr>
          <a:xfrm>
            <a:off x="3108960" y="2066400"/>
            <a:ext cx="563220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d8590"/>
                </a:solidFill>
                <a:latin typeface="Calibri"/>
                <a:ea typeface="Calibri"/>
              </a:rPr>
              <a:t>Would affect the entire system (login, newsletter...) — instrumented only the OrderPlacedEvent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Shape 17"/>
          <p:cNvSpPr/>
          <p:nvPr/>
        </p:nvSpPr>
        <p:spPr>
          <a:xfrm>
            <a:off x="365760" y="2724840"/>
            <a:ext cx="2559960" cy="62136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Text 18"/>
          <p:cNvSpPr/>
          <p:nvPr/>
        </p:nvSpPr>
        <p:spPr>
          <a:xfrm>
            <a:off x="457200" y="2724840"/>
            <a:ext cx="243180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Plugins (Brevo, Avalara)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Shape 19"/>
          <p:cNvSpPr/>
          <p:nvPr/>
        </p:nvSpPr>
        <p:spPr>
          <a:xfrm>
            <a:off x="3017520" y="2724840"/>
            <a:ext cx="5760360" cy="62136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 20"/>
          <p:cNvSpPr/>
          <p:nvPr/>
        </p:nvSpPr>
        <p:spPr>
          <a:xfrm>
            <a:off x="3108960" y="2724840"/>
            <a:ext cx="563220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d8590"/>
                </a:solidFill>
                <a:latin typeface="Calibri"/>
                <a:ea typeface="Calibri"/>
              </a:rPr>
              <a:t>Independent modules, out of checkout scope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Shape 21"/>
          <p:cNvSpPr/>
          <p:nvPr/>
        </p:nvSpPr>
        <p:spPr>
          <a:xfrm>
            <a:off x="365760" y="3383280"/>
            <a:ext cx="2559960" cy="621360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22"/>
          <p:cNvSpPr/>
          <p:nvPr/>
        </p:nvSpPr>
        <p:spPr>
          <a:xfrm>
            <a:off x="457200" y="3383280"/>
            <a:ext cx="243180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6edf3"/>
                </a:solidFill>
                <a:latin typeface="Calibri"/>
                <a:ea typeface="Calibri"/>
              </a:rPr>
              <a:t>Cache (IStaticCacheManager)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Shape 23"/>
          <p:cNvSpPr/>
          <p:nvPr/>
        </p:nvSpPr>
        <p:spPr>
          <a:xfrm>
            <a:off x="3017520" y="3383280"/>
            <a:ext cx="5760360" cy="621360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Text 24"/>
          <p:cNvSpPr/>
          <p:nvPr/>
        </p:nvSpPr>
        <p:spPr>
          <a:xfrm>
            <a:off x="3108960" y="3383280"/>
            <a:ext cx="563220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7d8590"/>
                </a:solidFill>
                <a:latin typeface="Calibri"/>
                <a:ea typeface="Calibri"/>
              </a:rPr>
              <a:t>Overhead on thousands of operations per request — noise with no value</a:t>
            </a:r>
            <a:endParaRPr b="0" lang="pt-PT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Shape 25"/>
          <p:cNvSpPr/>
          <p:nvPr/>
        </p:nvSpPr>
        <p:spPr>
          <a:xfrm>
            <a:off x="365760" y="4160520"/>
            <a:ext cx="8412120" cy="43848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 26"/>
          <p:cNvSpPr/>
          <p:nvPr/>
        </p:nvSpPr>
        <p:spPr>
          <a:xfrm>
            <a:off x="502920" y="4160520"/>
            <a:ext cx="8229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7d8590"/>
                </a:solidFill>
                <a:latin typeface="Calibri"/>
                <a:ea typeface="Calibri"/>
              </a:rPr>
              <a:t>Internal checkout methods are protected virtual — subclass override would be possible but fragile and disproportionate. Chose direct surgical change in the service.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Shape 0"/>
          <p:cNvSpPr/>
          <p:nvPr/>
        </p:nvSpPr>
        <p:spPr>
          <a:xfrm>
            <a:off x="365760" y="274320"/>
            <a:ext cx="45360" cy="52992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 1"/>
          <p:cNvSpPr/>
          <p:nvPr/>
        </p:nvSpPr>
        <p:spPr>
          <a:xfrm>
            <a:off x="502920" y="255960"/>
            <a:ext cx="83206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e6edf3"/>
                </a:solidFill>
                <a:latin typeface="Calibri"/>
                <a:ea typeface="Calibri"/>
              </a:rPr>
              <a:t>Live Demo</a:t>
            </a:r>
            <a:endParaRPr b="0" lang="pt-PT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Shape 2"/>
          <p:cNvSpPr/>
          <p:nvPr/>
        </p:nvSpPr>
        <p:spPr>
          <a:xfrm>
            <a:off x="365760" y="877680"/>
            <a:ext cx="8412120" cy="198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4840" bIns="-2484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Shape 3"/>
          <p:cNvSpPr/>
          <p:nvPr/>
        </p:nvSpPr>
        <p:spPr>
          <a:xfrm>
            <a:off x="0" y="4905720"/>
            <a:ext cx="9143640" cy="237240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Text 4"/>
          <p:cNvSpPr/>
          <p:nvPr/>
        </p:nvSpPr>
        <p:spPr>
          <a:xfrm>
            <a:off x="365760" y="4905720"/>
            <a:ext cx="8412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pc="-1" strike="noStrike">
                <a:solidFill>
                  <a:srgbClr val="7d8590"/>
                </a:solidFill>
                <a:latin typeface="Calibri"/>
                <a:ea typeface="Calibri"/>
              </a:rPr>
              <a:t>Software Architectures · Assignment 1 · Bruno Tavares</a:t>
            </a:r>
            <a:endParaRPr b="0" lang="pt-PT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Shape 5"/>
          <p:cNvSpPr/>
          <p:nvPr/>
        </p:nvSpPr>
        <p:spPr>
          <a:xfrm>
            <a:off x="365760" y="987480"/>
            <a:ext cx="2761200" cy="621360"/>
          </a:xfrm>
          <a:prstGeom prst="rect">
            <a:avLst/>
          </a:prstGeom>
          <a:solidFill>
            <a:srgbClr val="1c2128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Shape 6"/>
          <p:cNvSpPr/>
          <p:nvPr/>
        </p:nvSpPr>
        <p:spPr>
          <a:xfrm>
            <a:off x="365760" y="987480"/>
            <a:ext cx="45360" cy="62136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 7"/>
          <p:cNvSpPr/>
          <p:nvPr/>
        </p:nvSpPr>
        <p:spPr>
          <a:xfrm>
            <a:off x="475560" y="1005840"/>
            <a:ext cx="2559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722a"/>
                </a:solidFill>
                <a:latin typeface="Calibri"/>
                <a:ea typeface="Calibri"/>
              </a:rPr>
              <a:t>Load Test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Text 8"/>
          <p:cNvSpPr/>
          <p:nvPr/>
        </p:nvSpPr>
        <p:spPr>
          <a:xfrm>
            <a:off x="475560" y="128016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d8590"/>
                </a:solidFill>
                <a:latin typeface="Consolas"/>
                <a:ea typeface="Consolas"/>
              </a:rPr>
              <a:t>k6 run loadtest/checkout-flow.js</a:t>
            </a:r>
            <a:endParaRPr b="0" lang="pt-PT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Shape 9"/>
          <p:cNvSpPr/>
          <p:nvPr/>
        </p:nvSpPr>
        <p:spPr>
          <a:xfrm>
            <a:off x="3310200" y="987480"/>
            <a:ext cx="2761200" cy="621360"/>
          </a:xfrm>
          <a:prstGeom prst="rect">
            <a:avLst/>
          </a:prstGeom>
          <a:solidFill>
            <a:srgbClr val="1c2128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Shape 10"/>
          <p:cNvSpPr/>
          <p:nvPr/>
        </p:nvSpPr>
        <p:spPr>
          <a:xfrm>
            <a:off x="3310200" y="987480"/>
            <a:ext cx="45360" cy="621360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 11"/>
          <p:cNvSpPr/>
          <p:nvPr/>
        </p:nvSpPr>
        <p:spPr>
          <a:xfrm>
            <a:off x="3420000" y="1005840"/>
            <a:ext cx="2559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3fb950"/>
                </a:solidFill>
                <a:latin typeface="Calibri"/>
                <a:ea typeface="Calibri"/>
              </a:rPr>
              <a:t>Grafana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Text 12"/>
          <p:cNvSpPr/>
          <p:nvPr/>
        </p:nvSpPr>
        <p:spPr>
          <a:xfrm>
            <a:off x="3420000" y="128016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d8590"/>
                </a:solidFill>
                <a:latin typeface="Consolas"/>
                <a:ea typeface="Consolas"/>
              </a:rPr>
              <a:t>localhost:3000</a:t>
            </a:r>
            <a:endParaRPr b="0" lang="pt-PT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Shape 13"/>
          <p:cNvSpPr/>
          <p:nvPr/>
        </p:nvSpPr>
        <p:spPr>
          <a:xfrm>
            <a:off x="6254640" y="987480"/>
            <a:ext cx="2761200" cy="621360"/>
          </a:xfrm>
          <a:prstGeom prst="rect">
            <a:avLst/>
          </a:prstGeom>
          <a:solidFill>
            <a:srgbClr val="1c2128"/>
          </a:solidFill>
          <a:ln w="12700">
            <a:solidFill>
              <a:srgbClr val="58a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Shape 14"/>
          <p:cNvSpPr/>
          <p:nvPr/>
        </p:nvSpPr>
        <p:spPr>
          <a:xfrm>
            <a:off x="6254640" y="987480"/>
            <a:ext cx="45360" cy="62136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Text 15"/>
          <p:cNvSpPr/>
          <p:nvPr/>
        </p:nvSpPr>
        <p:spPr>
          <a:xfrm>
            <a:off x="6364080" y="1005840"/>
            <a:ext cx="2559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58a6ff"/>
                </a:solidFill>
                <a:latin typeface="Calibri"/>
                <a:ea typeface="Calibri"/>
              </a:rPr>
              <a:t>Jaeger</a:t>
            </a:r>
            <a:endParaRPr b="0" lang="pt-PT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 16"/>
          <p:cNvSpPr/>
          <p:nvPr/>
        </p:nvSpPr>
        <p:spPr>
          <a:xfrm>
            <a:off x="6364080" y="128016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7d8590"/>
                </a:solidFill>
                <a:latin typeface="Consolas"/>
                <a:ea typeface="Consolas"/>
              </a:rPr>
              <a:t>localhost:16686</a:t>
            </a:r>
            <a:endParaRPr b="0" lang="pt-PT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Shape 17"/>
          <p:cNvSpPr/>
          <p:nvPr/>
        </p:nvSpPr>
        <p:spPr>
          <a:xfrm>
            <a:off x="360000" y="1774080"/>
            <a:ext cx="4211640" cy="2871000"/>
          </a:xfrm>
          <a:prstGeom prst="rect">
            <a:avLst/>
          </a:prstGeom>
          <a:solidFill>
            <a:srgbClr val="0d1117"/>
          </a:solidFill>
          <a:ln w="12700">
            <a:solidFill>
              <a:srgbClr val="3fb9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79" name="Image 0" descr="preencoded.png"/>
          <p:cNvPicPr/>
          <p:nvPr/>
        </p:nvPicPr>
        <p:blipFill>
          <a:blip r:embed="rId1"/>
          <a:stretch/>
        </p:blipFill>
        <p:spPr>
          <a:xfrm>
            <a:off x="365760" y="1774080"/>
            <a:ext cx="4205880" cy="2871000"/>
          </a:xfrm>
          <a:prstGeom prst="rect">
            <a:avLst/>
          </a:prstGeom>
          <a:ln w="0">
            <a:noFill/>
          </a:ln>
        </p:spPr>
      </p:pic>
      <p:sp>
        <p:nvSpPr>
          <p:cNvPr id="180" name="Shape 18"/>
          <p:cNvSpPr/>
          <p:nvPr/>
        </p:nvSpPr>
        <p:spPr>
          <a:xfrm>
            <a:off x="4789800" y="1774080"/>
            <a:ext cx="4096080" cy="2871000"/>
          </a:xfrm>
          <a:prstGeom prst="rect">
            <a:avLst/>
          </a:prstGeom>
          <a:solidFill>
            <a:srgbClr val="0d1117"/>
          </a:solidFill>
          <a:ln w="12700">
            <a:solidFill>
              <a:srgbClr val="58a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PT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1" name="Image 1" descr="preencoded.png"/>
          <p:cNvPicPr/>
          <p:nvPr/>
        </p:nvPicPr>
        <p:blipFill>
          <a:blip r:embed="rId2"/>
          <a:stretch/>
        </p:blipFill>
        <p:spPr>
          <a:xfrm>
            <a:off x="4789800" y="1774080"/>
            <a:ext cx="4096080" cy="2871000"/>
          </a:xfrm>
          <a:prstGeom prst="rect">
            <a:avLst/>
          </a:prstGeom>
          <a:ln w="0">
            <a:noFill/>
          </a:ln>
        </p:spPr>
      </p:pic>
      <p:sp>
        <p:nvSpPr>
          <p:cNvPr id="182" name="Text 19"/>
          <p:cNvSpPr/>
          <p:nvPr/>
        </p:nvSpPr>
        <p:spPr>
          <a:xfrm>
            <a:off x="365760" y="4736520"/>
            <a:ext cx="8412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00" spc="-1" strike="noStrike">
                <a:solidFill>
                  <a:srgbClr val="7d8590"/>
                </a:solidFill>
                <a:latin typeface="Calibri"/>
                <a:ea typeface="Calibri"/>
              </a:rPr>
              <a:t>Backup screenshots — real demo runs live with k6 generating traffic</a:t>
            </a:r>
            <a:endParaRPr b="0" lang="pt-PT" sz="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2026-03-22T19:12:13Z</dcterms:created>
  <dc:creator>PptxGenJS</dc:creator>
  <dc:description/>
  <dc:language>pt-PT</dc:language>
  <cp:lastModifiedBy/>
  <cp:lastPrinted>2026-03-22T19:16:18Z</cp:lastPrinted>
  <dcterms:modified xsi:type="dcterms:W3CDTF">2026-03-22T19:16:24Z</dcterms:modified>
  <cp:revision>2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7</vt:i4>
  </property>
  <property fmtid="{D5CDD505-2E9C-101B-9397-08002B2CF9AE}" pid="3" name="PresentationFormat">
    <vt:lpwstr>On-screen Show (16:9)</vt:lpwstr>
  </property>
  <property fmtid="{D5CDD505-2E9C-101B-9397-08002B2CF9AE}" pid="4" name="Slides">
    <vt:i4>7</vt:i4>
  </property>
</Properties>
</file>