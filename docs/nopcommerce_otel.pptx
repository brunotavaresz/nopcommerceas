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E8722A"/>
          </a:solidFill>
          <a:ln w="12700">
            <a:solidFill>
              <a:srgbClr val="E872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1417320"/>
            <a:ext cx="7498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nopCommerce + OpenTelemetry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2423160"/>
            <a:ext cx="7498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 Flow Observability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22960" y="3035808"/>
            <a:ext cx="2011680" cy="36576"/>
          </a:xfrm>
          <a:prstGeom prst="rect">
            <a:avLst/>
          </a:prstGeom>
          <a:solidFill>
            <a:srgbClr val="E8722A"/>
          </a:solidFill>
          <a:ln w="12700">
            <a:solidFill>
              <a:srgbClr val="E8722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4814316"/>
            <a:ext cx="9144000" cy="329184"/>
          </a:xfrm>
          <a:prstGeom prst="rect">
            <a:avLst/>
          </a:prstGeom>
          <a:solidFill>
            <a:srgbClr val="0A0D12"/>
          </a:solidFill>
          <a:ln w="12700">
            <a:solidFill>
              <a:srgbClr val="0A0D1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4814316"/>
            <a:ext cx="8412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Architectures · Assignment 1 · Bruno Tavares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74320"/>
            <a:ext cx="45720" cy="530352"/>
          </a:xfrm>
          <a:prstGeom prst="rect">
            <a:avLst/>
          </a:prstGeom>
          <a:solidFill>
            <a:srgbClr val="E8722A"/>
          </a:solidFill>
          <a:ln w="12700">
            <a:solidFill>
              <a:srgbClr val="E872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Instrumentation Decision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877824"/>
            <a:ext cx="8412480" cy="20117"/>
          </a:xfrm>
          <a:prstGeom prst="rect">
            <a:avLst/>
          </a:prstGeom>
          <a:solidFill>
            <a:srgbClr val="2D333B"/>
          </a:solidFill>
          <a:ln w="12700">
            <a:solidFill>
              <a:srgbClr val="2D33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0A0D12"/>
          </a:solidFill>
          <a:ln w="12700">
            <a:solidFill>
              <a:srgbClr val="0A0D1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05756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Architectures · Assignment 1 · Bruno Tavares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65760" y="1005840"/>
            <a:ext cx="1783080" cy="420624"/>
          </a:xfrm>
          <a:prstGeom prst="rect">
            <a:avLst/>
          </a:prstGeom>
          <a:solidFill>
            <a:srgbClr val="1C2128"/>
          </a:solidFill>
          <a:ln w="12700">
            <a:solidFill>
              <a:srgbClr val="2D33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05840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148840" y="1196035"/>
            <a:ext cx="128016" cy="40234"/>
          </a:xfrm>
          <a:prstGeom prst="rect">
            <a:avLst/>
          </a:prstGeom>
          <a:solidFill>
            <a:srgbClr val="7D8590"/>
          </a:solidFill>
          <a:ln w="12700">
            <a:solidFill>
              <a:srgbClr val="7D859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40280" y="1170432"/>
            <a:ext cx="36576" cy="91440"/>
          </a:xfrm>
          <a:prstGeom prst="rect">
            <a:avLst/>
          </a:prstGeom>
          <a:solidFill>
            <a:srgbClr val="7D8590"/>
          </a:solidFill>
          <a:ln w="12700">
            <a:solidFill>
              <a:srgbClr val="7D859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76856" y="1005840"/>
            <a:ext cx="1783080" cy="420624"/>
          </a:xfrm>
          <a:prstGeom prst="rect">
            <a:avLst/>
          </a:prstGeom>
          <a:solidFill>
            <a:srgbClr val="1C2128"/>
          </a:solidFill>
          <a:ln w="12700">
            <a:solidFill>
              <a:srgbClr val="2D333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276856" y="1005840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CheckoutController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059936" y="1196035"/>
            <a:ext cx="128016" cy="40234"/>
          </a:xfrm>
          <a:prstGeom prst="rect">
            <a:avLst/>
          </a:prstGeom>
          <a:solidFill>
            <a:srgbClr val="7D8590"/>
          </a:solidFill>
          <a:ln w="12700">
            <a:solidFill>
              <a:srgbClr val="7D859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51376" y="1170432"/>
            <a:ext cx="36576" cy="91440"/>
          </a:xfrm>
          <a:prstGeom prst="rect">
            <a:avLst/>
          </a:prstGeom>
          <a:solidFill>
            <a:srgbClr val="7D8590"/>
          </a:solidFill>
          <a:ln w="12700">
            <a:solidFill>
              <a:srgbClr val="7D859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87952" y="1005840"/>
            <a:ext cx="1783080" cy="420624"/>
          </a:xfrm>
          <a:prstGeom prst="rect">
            <a:avLst/>
          </a:prstGeom>
          <a:solidFill>
            <a:srgbClr val="E8722A"/>
          </a:solidFill>
          <a:ln w="12700">
            <a:solidFill>
              <a:srgbClr val="E8722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87952" y="1005840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OrderProcessingService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71032" y="1196035"/>
            <a:ext cx="128016" cy="40234"/>
          </a:xfrm>
          <a:prstGeom prst="rect">
            <a:avLst/>
          </a:prstGeom>
          <a:solidFill>
            <a:srgbClr val="7D8590"/>
          </a:solidFill>
          <a:ln w="12700">
            <a:solidFill>
              <a:srgbClr val="7D859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62472" y="1170432"/>
            <a:ext cx="36576" cy="91440"/>
          </a:xfrm>
          <a:prstGeom prst="rect">
            <a:avLst/>
          </a:prstGeom>
          <a:solidFill>
            <a:srgbClr val="7D8590"/>
          </a:solidFill>
          <a:ln w="12700">
            <a:solidFill>
              <a:srgbClr val="7D859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99048" y="1005840"/>
            <a:ext cx="1783080" cy="420624"/>
          </a:xfrm>
          <a:prstGeom prst="rect">
            <a:avLst/>
          </a:prstGeom>
          <a:solidFill>
            <a:srgbClr val="1C2128"/>
          </a:solidFill>
          <a:ln w="12700">
            <a:solidFill>
              <a:srgbClr val="2D333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99048" y="1005840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1572768"/>
            <a:ext cx="8412480" cy="20117"/>
          </a:xfrm>
          <a:prstGeom prst="rect">
            <a:avLst/>
          </a:prstGeom>
          <a:solidFill>
            <a:srgbClr val="2D333B"/>
          </a:solidFill>
          <a:ln w="12700">
            <a:solidFill>
              <a:srgbClr val="2D333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" y="1901952"/>
            <a:ext cx="50292" cy="50292"/>
          </a:xfrm>
          <a:prstGeom prst="rect">
            <a:avLst/>
          </a:prstGeom>
          <a:solidFill>
            <a:srgbClr val="E8722A"/>
          </a:solidFill>
          <a:ln w="12700">
            <a:solidFill>
              <a:srgbClr val="E872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0352" y="1719072"/>
            <a:ext cx="822960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 "Customer places an order" — the most business-critical flow; if checkout fails, the store loses money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65760" y="2670048"/>
            <a:ext cx="50292" cy="50292"/>
          </a:xfrm>
          <a:prstGeom prst="rect">
            <a:avLst/>
          </a:prstGeom>
          <a:solidFill>
            <a:srgbClr val="E8722A"/>
          </a:solidFill>
          <a:ln w="12700">
            <a:solidFill>
              <a:srgbClr val="E8722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30352" y="2487168"/>
            <a:ext cx="822960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Instrumented at OrderProcessingService.PlaceOrderAsync — where payment, persistence, notifications and events are orchestrated in a single method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3438144"/>
            <a:ext cx="50292" cy="50292"/>
          </a:xfrm>
          <a:prstGeom prst="rect">
            <a:avLst/>
          </a:prstGeom>
          <a:solidFill>
            <a:srgbClr val="E8722A"/>
          </a:solidFill>
          <a:ln w="12700">
            <a:solidFill>
              <a:srgbClr val="E8722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30352" y="3255264"/>
            <a:ext cx="822960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ASP.NET auto-instrumentation covers HTTP. SqlClient covers SQL. I only needed to instrument what's in between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65760" y="4206240"/>
            <a:ext cx="50292" cy="50292"/>
          </a:xfrm>
          <a:prstGeom prst="rect">
            <a:avLst/>
          </a:prstGeom>
          <a:solidFill>
            <a:srgbClr val="E8722A"/>
          </a:solidFill>
          <a:ln w="12700">
            <a:solidFill>
              <a:srgbClr val="E8722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30352" y="4023360"/>
            <a:ext cx="822960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Surgical approach: 3 files changed (OrderProcessingService.cs, Program.cs, NopTelemetryConstants.cs), business logic untouched, zero overhead if OTel SDK is absent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74320"/>
            <a:ext cx="45720" cy="530352"/>
          </a:xfrm>
          <a:prstGeom prst="rect">
            <a:avLst/>
          </a:prstGeom>
          <a:solidFill>
            <a:srgbClr val="E8722A"/>
          </a:solidFill>
          <a:ln w="12700">
            <a:solidFill>
              <a:srgbClr val="E872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Tracing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877824"/>
            <a:ext cx="8412480" cy="20117"/>
          </a:xfrm>
          <a:prstGeom prst="rect">
            <a:avLst/>
          </a:prstGeom>
          <a:solidFill>
            <a:srgbClr val="2D333B"/>
          </a:solidFill>
          <a:ln w="12700">
            <a:solidFill>
              <a:srgbClr val="2D33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0A0D12"/>
          </a:solidFill>
          <a:ln w="12700">
            <a:solidFill>
              <a:srgbClr val="0A0D1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05756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Architectures · Assignment 1 · Bruno Tavares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384048" y="1024128"/>
            <a:ext cx="3108960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D85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/checkout/OpcConfirmOrder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310128" y="1060704"/>
            <a:ext cx="914400" cy="246888"/>
          </a:xfrm>
          <a:prstGeom prst="rect">
            <a:avLst/>
          </a:prstGeom>
          <a:solidFill>
            <a:srgbClr val="191E25"/>
          </a:solidFill>
          <a:ln w="12700">
            <a:solidFill>
              <a:srgbClr val="2D33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10128" y="1060704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— ASP.NET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20624" y="1614465"/>
            <a:ext cx="146304" cy="18288"/>
          </a:xfrm>
          <a:prstGeom prst="rect">
            <a:avLst/>
          </a:prstGeom>
          <a:solidFill>
            <a:srgbClr val="2D333B"/>
          </a:solidFill>
          <a:ln w="12700">
            <a:solidFill>
              <a:srgbClr val="2D33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03504" y="1472184"/>
            <a:ext cx="2944368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checkout.place_order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310128" y="1508760"/>
            <a:ext cx="914400" cy="246888"/>
          </a:xfrm>
          <a:prstGeom prst="rect">
            <a:avLst/>
          </a:prstGeom>
          <a:solidFill>
            <a:srgbClr val="1A262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10128" y="1508760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40080" y="2062521"/>
            <a:ext cx="146304" cy="18288"/>
          </a:xfrm>
          <a:prstGeom prst="rect">
            <a:avLst/>
          </a:prstGeom>
          <a:solidFill>
            <a:srgbClr val="2D333B"/>
          </a:solidFill>
          <a:ln w="12700">
            <a:solidFill>
              <a:srgbClr val="2D33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1920240"/>
            <a:ext cx="277977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checkout.process_payment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310128" y="1956816"/>
            <a:ext cx="914400" cy="246888"/>
          </a:xfrm>
          <a:prstGeom prst="rect">
            <a:avLst/>
          </a:prstGeom>
          <a:solidFill>
            <a:srgbClr val="1A262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10128" y="195681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40080" y="2510577"/>
            <a:ext cx="146304" cy="18288"/>
          </a:xfrm>
          <a:prstGeom prst="rect">
            <a:avLst/>
          </a:prstGeom>
          <a:solidFill>
            <a:srgbClr val="2D333B"/>
          </a:solidFill>
          <a:ln w="12700">
            <a:solidFill>
              <a:srgbClr val="2D33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2368296"/>
            <a:ext cx="277977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checkout.save_order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310128" y="2404872"/>
            <a:ext cx="914400" cy="246888"/>
          </a:xfrm>
          <a:prstGeom prst="rect">
            <a:avLst/>
          </a:prstGeom>
          <a:solidFill>
            <a:srgbClr val="1A262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10128" y="240487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859536" y="2958633"/>
            <a:ext cx="146304" cy="18288"/>
          </a:xfrm>
          <a:prstGeom prst="rect">
            <a:avLst/>
          </a:prstGeom>
          <a:solidFill>
            <a:srgbClr val="2D333B"/>
          </a:solidFill>
          <a:ln w="12700">
            <a:solidFill>
              <a:srgbClr val="2D333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42416" y="2816352"/>
            <a:ext cx="2615184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D85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 queries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310128" y="2852928"/>
            <a:ext cx="914400" cy="246888"/>
          </a:xfrm>
          <a:prstGeom prst="rect">
            <a:avLst/>
          </a:prstGeom>
          <a:solidFill>
            <a:srgbClr val="191E25"/>
          </a:solidFill>
          <a:ln w="12700">
            <a:solidFill>
              <a:srgbClr val="2D333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10128" y="2852928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— SqlClient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640080" y="3406689"/>
            <a:ext cx="146304" cy="18288"/>
          </a:xfrm>
          <a:prstGeom prst="rect">
            <a:avLst/>
          </a:prstGeom>
          <a:solidFill>
            <a:srgbClr val="2D333B"/>
          </a:solidFill>
          <a:ln w="12700">
            <a:solidFill>
              <a:srgbClr val="2D333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2960" y="3264408"/>
            <a:ext cx="277977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checkout.send_notifications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310128" y="3300984"/>
            <a:ext cx="914400" cy="246888"/>
          </a:xfrm>
          <a:prstGeom prst="rect">
            <a:avLst/>
          </a:prstGeom>
          <a:solidFill>
            <a:srgbClr val="1A262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310128" y="3300984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640080" y="3854745"/>
            <a:ext cx="146304" cy="18288"/>
          </a:xfrm>
          <a:prstGeom prst="rect">
            <a:avLst/>
          </a:prstGeom>
          <a:solidFill>
            <a:srgbClr val="2D333B"/>
          </a:solidFill>
          <a:ln w="12700">
            <a:solidFill>
              <a:srgbClr val="2D333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3712464"/>
            <a:ext cx="277977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checkout.publish_event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310128" y="3749040"/>
            <a:ext cx="914400" cy="246888"/>
          </a:xfrm>
          <a:prstGeom prst="rect">
            <a:avLst/>
          </a:prstGeom>
          <a:solidFill>
            <a:srgbClr val="1A262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310128" y="3749040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4407408" y="969264"/>
            <a:ext cx="4407408" cy="3803904"/>
          </a:xfrm>
          <a:prstGeom prst="rect">
            <a:avLst/>
          </a:prstGeom>
          <a:solidFill>
            <a:srgbClr val="1C2128"/>
          </a:solidFill>
          <a:ln w="12700">
            <a:solidFill>
              <a:srgbClr val="2D333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407408" y="969264"/>
            <a:ext cx="4407408" cy="3803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 JAEGER SCREENSHOT]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365760" y="4425696"/>
            <a:ext cx="3931920" cy="237744"/>
          </a:xfrm>
          <a:prstGeom prst="rect">
            <a:avLst/>
          </a:prstGeom>
          <a:solidFill>
            <a:srgbClr val="1C2128"/>
          </a:solidFill>
          <a:ln w="12700">
            <a:solidFill>
              <a:srgbClr val="2D333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442569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Included: order.total, payment.method, order.items   |   Excluded: emails, addresses, names, card numbers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74320"/>
            <a:ext cx="45720" cy="530352"/>
          </a:xfrm>
          <a:prstGeom prst="rect">
            <a:avLst/>
          </a:prstGeom>
          <a:solidFill>
            <a:srgbClr val="E8722A"/>
          </a:solidFill>
          <a:ln w="12700">
            <a:solidFill>
              <a:srgbClr val="E872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Custom Metrics — The 2am Test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877824"/>
            <a:ext cx="8412480" cy="20117"/>
          </a:xfrm>
          <a:prstGeom prst="rect">
            <a:avLst/>
          </a:prstGeom>
          <a:solidFill>
            <a:srgbClr val="2D333B"/>
          </a:solidFill>
          <a:ln w="12700">
            <a:solidFill>
              <a:srgbClr val="2D33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0A0D12"/>
          </a:solidFill>
          <a:ln w="12700">
            <a:solidFill>
              <a:srgbClr val="0A0D1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05756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Architectures · Assignment 1 · Bruno Tavares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65760" y="1005840"/>
            <a:ext cx="2926080" cy="365760"/>
          </a:xfrm>
          <a:prstGeom prst="rect">
            <a:avLst/>
          </a:prstGeom>
          <a:solidFill>
            <a:srgbClr val="E8722A"/>
          </a:solidFill>
          <a:ln w="12700">
            <a:solidFill>
              <a:srgbClr val="E872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8912" y="100584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11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83280" y="1005840"/>
            <a:ext cx="1005840" cy="365760"/>
          </a:xfrm>
          <a:prstGeom prst="rect">
            <a:avLst/>
          </a:prstGeom>
          <a:solidFill>
            <a:srgbClr val="E8722A"/>
          </a:solidFill>
          <a:ln w="12700">
            <a:solidFill>
              <a:srgbClr val="E872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56432" y="100584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11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480560" y="1005840"/>
            <a:ext cx="4572000" cy="365760"/>
          </a:xfrm>
          <a:prstGeom prst="rect">
            <a:avLst/>
          </a:prstGeom>
          <a:solidFill>
            <a:srgbClr val="E8722A"/>
          </a:solidFill>
          <a:ln w="12700">
            <a:solidFill>
              <a:srgbClr val="E872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53712" y="100584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11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fires at 2am, the on-call engineer knows...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65760" y="1408176"/>
            <a:ext cx="2926080" cy="713232"/>
          </a:xfrm>
          <a:prstGeom prst="rect">
            <a:avLst/>
          </a:prstGeom>
          <a:solidFill>
            <a:srgbClr val="1C2128"/>
          </a:solidFill>
          <a:ln w="12700">
            <a:solidFill>
              <a:srgbClr val="2D333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1408176"/>
            <a:ext cx="27980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nop.checkout.place_order.attempts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383280" y="1408176"/>
            <a:ext cx="1005840" cy="713232"/>
          </a:xfrm>
          <a:prstGeom prst="rect">
            <a:avLst/>
          </a:prstGeom>
          <a:solidFill>
            <a:srgbClr val="1C2128"/>
          </a:solidFill>
          <a:ln w="12700">
            <a:solidFill>
              <a:srgbClr val="2D333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74720" y="1408176"/>
            <a:ext cx="87782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480560" y="1408176"/>
            <a:ext cx="4572000" cy="713232"/>
          </a:xfrm>
          <a:prstGeom prst="rect">
            <a:avLst/>
          </a:prstGeom>
          <a:solidFill>
            <a:srgbClr val="1C2128"/>
          </a:solidFill>
          <a:ln w="12700">
            <a:solidFill>
              <a:srgbClr val="2D333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0" y="1408176"/>
            <a:ext cx="444398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 volume dropped or spiked abnormally — checkout may be unreachable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65760" y="2157984"/>
            <a:ext cx="2926080" cy="713232"/>
          </a:xfrm>
          <a:prstGeom prst="rect">
            <a:avLst/>
          </a:prstGeom>
          <a:solidFill>
            <a:srgbClr val="191E25"/>
          </a:solidFill>
          <a:ln w="12700">
            <a:solidFill>
              <a:srgbClr val="2D333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2157984"/>
            <a:ext cx="27980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nop.checkout.place_order.failures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83280" y="2157984"/>
            <a:ext cx="1005840" cy="713232"/>
          </a:xfrm>
          <a:prstGeom prst="rect">
            <a:avLst/>
          </a:prstGeom>
          <a:solidFill>
            <a:srgbClr val="191E25"/>
          </a:solidFill>
          <a:ln w="12700">
            <a:solidFill>
              <a:srgbClr val="2D333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74720" y="2157984"/>
            <a:ext cx="87782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480560" y="2157984"/>
            <a:ext cx="4572000" cy="713232"/>
          </a:xfrm>
          <a:prstGeom prst="rect">
            <a:avLst/>
          </a:prstGeom>
          <a:solidFill>
            <a:srgbClr val="191E25"/>
          </a:solidFill>
          <a:ln w="12700">
            <a:solidFill>
              <a:srgbClr val="2D333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0" y="2157984"/>
            <a:ext cx="444398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checkout pipeline is broken — users cannot complete orders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65760" y="2907792"/>
            <a:ext cx="2926080" cy="713232"/>
          </a:xfrm>
          <a:prstGeom prst="rect">
            <a:avLst/>
          </a:prstGeom>
          <a:solidFill>
            <a:srgbClr val="1C2128"/>
          </a:solidFill>
          <a:ln w="12700">
            <a:solidFill>
              <a:srgbClr val="2D333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2907792"/>
            <a:ext cx="27980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nop.checkout.place_order.duration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3383280" y="2907792"/>
            <a:ext cx="1005840" cy="713232"/>
          </a:xfrm>
          <a:prstGeom prst="rect">
            <a:avLst/>
          </a:prstGeom>
          <a:solidFill>
            <a:srgbClr val="1C2128"/>
          </a:solidFill>
          <a:ln w="12700">
            <a:solidFill>
              <a:srgbClr val="2D33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474720" y="2907792"/>
            <a:ext cx="87782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Histogram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480560" y="2907792"/>
            <a:ext cx="4572000" cy="713232"/>
          </a:xfrm>
          <a:prstGeom prst="rect">
            <a:avLst/>
          </a:prstGeom>
          <a:solidFill>
            <a:srgbClr val="1C2128"/>
          </a:solidFill>
          <a:ln w="12700">
            <a:solidFill>
              <a:srgbClr val="2D333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72000" y="2907792"/>
            <a:ext cx="444398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or payment gateway is degraded — p95 rising before visible errors appear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65760" y="4297680"/>
            <a:ext cx="8412480" cy="347472"/>
          </a:xfrm>
          <a:prstGeom prst="rect">
            <a:avLst/>
          </a:prstGeom>
          <a:solidFill>
            <a:srgbClr val="1C2128"/>
          </a:solidFill>
          <a:ln w="12700">
            <a:solidFill>
              <a:srgbClr val="E8722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30352" y="4297680"/>
            <a:ext cx="8138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7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attempts + failures  →  error rate in Grafana     |     duration  →  detects degradation before failures become visible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74320"/>
            <a:ext cx="45720" cy="530352"/>
          </a:xfrm>
          <a:prstGeom prst="rect">
            <a:avLst/>
          </a:prstGeom>
          <a:solidFill>
            <a:srgbClr val="E8722A"/>
          </a:solidFill>
          <a:ln w="12700">
            <a:solidFill>
              <a:srgbClr val="E872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— Defence in Depth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877824"/>
            <a:ext cx="8412480" cy="20117"/>
          </a:xfrm>
          <a:prstGeom prst="rect">
            <a:avLst/>
          </a:prstGeom>
          <a:solidFill>
            <a:srgbClr val="2D333B"/>
          </a:solidFill>
          <a:ln w="12700">
            <a:solidFill>
              <a:srgbClr val="2D33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0A0D12"/>
          </a:solidFill>
          <a:ln w="12700">
            <a:solidFill>
              <a:srgbClr val="0A0D1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05756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Architectures · Assignment 1 · Bruno Tavares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65760" y="987552"/>
            <a:ext cx="4160520" cy="3063240"/>
          </a:xfrm>
          <a:prstGeom prst="rect">
            <a:avLst/>
          </a:prstGeom>
          <a:solidFill>
            <a:srgbClr val="1C2128"/>
          </a:solidFill>
          <a:ln w="12700">
            <a:solidFill>
              <a:srgbClr val="2D333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987552"/>
            <a:ext cx="4160520" cy="3657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2064" y="1078992"/>
            <a:ext cx="39410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code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12064" y="1682496"/>
            <a:ext cx="82296" cy="82296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1554480"/>
            <a:ext cx="3758184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 attributes are strictly operational: order.total, payment.method, order.items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12064" y="2487168"/>
            <a:ext cx="82296" cy="82296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2359152"/>
            <a:ext cx="3758184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emails, addresses, names or card numbers are ever recorded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12064" y="3291840"/>
            <a:ext cx="82296" cy="82296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3163824"/>
            <a:ext cx="3758184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decision for every attribute — full control at the point of instrumentation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754880" y="987552"/>
            <a:ext cx="4160520" cy="3063240"/>
          </a:xfrm>
          <a:prstGeom prst="rect">
            <a:avLst/>
          </a:prstGeom>
          <a:solidFill>
            <a:srgbClr val="1C2128"/>
          </a:solidFill>
          <a:ln w="12700">
            <a:solidFill>
              <a:srgbClr val="2D333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54880" y="987552"/>
            <a:ext cx="4160520" cy="36576"/>
          </a:xfrm>
          <a:prstGeom prst="rect">
            <a:avLst/>
          </a:prstGeom>
          <a:solidFill>
            <a:srgbClr val="E8722A"/>
          </a:solidFill>
          <a:ln w="12700">
            <a:solidFill>
              <a:srgbClr val="E872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01184" y="1078992"/>
            <a:ext cx="39410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7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 Collector — pii-redact processor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901184" y="1682496"/>
            <a:ext cx="82296" cy="82296"/>
          </a:xfrm>
          <a:prstGeom prst="ellipse">
            <a:avLst/>
          </a:prstGeom>
          <a:solidFill>
            <a:srgbClr val="E8722A"/>
          </a:solidFill>
          <a:ln w="12700">
            <a:solidFill>
              <a:srgbClr val="E872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47488" y="1554480"/>
            <a:ext cx="3758184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Deletes before export: authorization headers, cookies, emails, SQL statements, query strings, request bodies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901184" y="2487168"/>
            <a:ext cx="82296" cy="82296"/>
          </a:xfrm>
          <a:prstGeom prst="ellipse">
            <a:avLst/>
          </a:prstGeom>
          <a:solidFill>
            <a:srgbClr val="E8722A"/>
          </a:solidFill>
          <a:ln w="12700">
            <a:solidFill>
              <a:srgbClr val="E8722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47488" y="2359152"/>
            <a:ext cx="3758184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here? Auto-instrumentation (ASP.NET, SqlClient) can capture PII without my control — the Collector is the last barrier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901184" y="3291840"/>
            <a:ext cx="82296" cy="82296"/>
          </a:xfrm>
          <a:prstGeom prst="ellipse">
            <a:avLst/>
          </a:prstGeom>
          <a:solidFill>
            <a:srgbClr val="E8722A"/>
          </a:solidFill>
          <a:ln w="12700">
            <a:solidFill>
              <a:srgbClr val="E8722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47488" y="3163824"/>
            <a:ext cx="3758184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if something escapes in code, it is filtered here before reaching Jaeger or Prometheus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65760" y="4160520"/>
            <a:ext cx="8412480" cy="347472"/>
          </a:xfrm>
          <a:prstGeom prst="rect">
            <a:avLst/>
          </a:prstGeom>
          <a:solidFill>
            <a:srgbClr val="1C1215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30352" y="4160520"/>
            <a:ext cx="8138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 alternative: filtering only in code — fragile, auto-instrumentation escapes our control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74320"/>
            <a:ext cx="45720" cy="530352"/>
          </a:xfrm>
          <a:prstGeom prst="rect">
            <a:avLst/>
          </a:prstGeom>
          <a:solidFill>
            <a:srgbClr val="E8722A"/>
          </a:solidFill>
          <a:ln w="12700">
            <a:solidFill>
              <a:srgbClr val="E872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Did NOT Instrument — and Why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877824"/>
            <a:ext cx="8412480" cy="20117"/>
          </a:xfrm>
          <a:prstGeom prst="rect">
            <a:avLst/>
          </a:prstGeom>
          <a:solidFill>
            <a:srgbClr val="2D333B"/>
          </a:solidFill>
          <a:ln w="12700">
            <a:solidFill>
              <a:srgbClr val="2D33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0A0D12"/>
          </a:solidFill>
          <a:ln w="12700">
            <a:solidFill>
              <a:srgbClr val="0A0D1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05756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Architectures · Assignment 1 · Bruno Tavares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65760" y="1005840"/>
            <a:ext cx="2560320" cy="365760"/>
          </a:xfrm>
          <a:prstGeom prst="rect">
            <a:avLst/>
          </a:prstGeom>
          <a:solidFill>
            <a:srgbClr val="1C2128"/>
          </a:solidFill>
          <a:ln w="12700">
            <a:solidFill>
              <a:srgbClr val="2D33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005840"/>
            <a:ext cx="24323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7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instrumented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017520" y="1005840"/>
            <a:ext cx="5760720" cy="365760"/>
          </a:xfrm>
          <a:prstGeom prst="rect">
            <a:avLst/>
          </a:prstGeom>
          <a:solidFill>
            <a:srgbClr val="1C2128"/>
          </a:solidFill>
          <a:ln w="12700">
            <a:solidFill>
              <a:srgbClr val="2D33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08960" y="1005840"/>
            <a:ext cx="56327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7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65760" y="1408176"/>
            <a:ext cx="2560320" cy="621792"/>
          </a:xfrm>
          <a:prstGeom prst="rect">
            <a:avLst/>
          </a:prstGeom>
          <a:solidFill>
            <a:srgbClr val="1C2128"/>
          </a:solidFill>
          <a:ln w="12700">
            <a:solidFill>
              <a:srgbClr val="2D333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1408176"/>
            <a:ext cx="2432304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017520" y="1408176"/>
            <a:ext cx="5760720" cy="621792"/>
          </a:xfrm>
          <a:prstGeom prst="rect">
            <a:avLst/>
          </a:prstGeom>
          <a:solidFill>
            <a:srgbClr val="1C2128"/>
          </a:solidFill>
          <a:ln w="12700">
            <a:solidFill>
              <a:srgbClr val="2D333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108960" y="1408176"/>
            <a:ext cx="5632704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ASP.NET auto-instrumentation already covers all HTTP spans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65760" y="2066544"/>
            <a:ext cx="2560320" cy="621792"/>
          </a:xfrm>
          <a:prstGeom prst="rect">
            <a:avLst/>
          </a:prstGeom>
          <a:solidFill>
            <a:srgbClr val="191E25"/>
          </a:solidFill>
          <a:ln w="12700">
            <a:solidFill>
              <a:srgbClr val="2D333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066544"/>
            <a:ext cx="2432304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EventPublisher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017520" y="2066544"/>
            <a:ext cx="5760720" cy="621792"/>
          </a:xfrm>
          <a:prstGeom prst="rect">
            <a:avLst/>
          </a:prstGeom>
          <a:solidFill>
            <a:srgbClr val="191E25"/>
          </a:solidFill>
          <a:ln w="12700">
            <a:solidFill>
              <a:srgbClr val="2D333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108960" y="2066544"/>
            <a:ext cx="5632704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Would affect the entire system (login, newsletter...) — instrumented only the OrderPlacedEvent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65760" y="2724912"/>
            <a:ext cx="2560320" cy="621792"/>
          </a:xfrm>
          <a:prstGeom prst="rect">
            <a:avLst/>
          </a:prstGeom>
          <a:solidFill>
            <a:srgbClr val="1C2128"/>
          </a:solidFill>
          <a:ln w="12700">
            <a:solidFill>
              <a:srgbClr val="2D333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2724912"/>
            <a:ext cx="2432304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Plugins (Brevo, Avalara)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017520" y="2724912"/>
            <a:ext cx="5760720" cy="621792"/>
          </a:xfrm>
          <a:prstGeom prst="rect">
            <a:avLst/>
          </a:prstGeom>
          <a:solidFill>
            <a:srgbClr val="1C2128"/>
          </a:solidFill>
          <a:ln w="12700">
            <a:solidFill>
              <a:srgbClr val="2D333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108960" y="2724912"/>
            <a:ext cx="5632704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modules, out of checkout scope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65760" y="3383280"/>
            <a:ext cx="2560320" cy="621792"/>
          </a:xfrm>
          <a:prstGeom prst="rect">
            <a:avLst/>
          </a:prstGeom>
          <a:solidFill>
            <a:srgbClr val="191E25"/>
          </a:solidFill>
          <a:ln w="12700">
            <a:solidFill>
              <a:srgbClr val="2D333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3383280"/>
            <a:ext cx="2432304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(IStaticCacheManager)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017520" y="3383280"/>
            <a:ext cx="5760720" cy="621792"/>
          </a:xfrm>
          <a:prstGeom prst="rect">
            <a:avLst/>
          </a:prstGeom>
          <a:solidFill>
            <a:srgbClr val="191E25"/>
          </a:solidFill>
          <a:ln w="12700">
            <a:solidFill>
              <a:srgbClr val="2D333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108960" y="3383280"/>
            <a:ext cx="5632704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Overhead on thousands of operations per request — noise with no value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65760" y="4160520"/>
            <a:ext cx="8412480" cy="438912"/>
          </a:xfrm>
          <a:prstGeom prst="rect">
            <a:avLst/>
          </a:prstGeom>
          <a:solidFill>
            <a:srgbClr val="1C2128"/>
          </a:solidFill>
          <a:ln w="12700">
            <a:solidFill>
              <a:srgbClr val="2D33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4160520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checkout methods are protected virtual — subclass override would be possible but fragile and disproportionate. Chose direct surgical change in the service.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74320"/>
            <a:ext cx="45720" cy="530352"/>
          </a:xfrm>
          <a:prstGeom prst="rect">
            <a:avLst/>
          </a:prstGeom>
          <a:solidFill>
            <a:srgbClr val="E8722A"/>
          </a:solidFill>
          <a:ln w="12700">
            <a:solidFill>
              <a:srgbClr val="E872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877824"/>
            <a:ext cx="8412480" cy="20117"/>
          </a:xfrm>
          <a:prstGeom prst="rect">
            <a:avLst/>
          </a:prstGeom>
          <a:solidFill>
            <a:srgbClr val="2D333B"/>
          </a:solidFill>
          <a:ln w="12700">
            <a:solidFill>
              <a:srgbClr val="2D33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0A0D12"/>
          </a:solidFill>
          <a:ln w="12700">
            <a:solidFill>
              <a:srgbClr val="0A0D1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05756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Architectures · Assignment 1 · Bruno Tavares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65760" y="987552"/>
            <a:ext cx="2761488" cy="621792"/>
          </a:xfrm>
          <a:prstGeom prst="rect">
            <a:avLst/>
          </a:prstGeom>
          <a:solidFill>
            <a:srgbClr val="1C2128"/>
          </a:solidFill>
          <a:ln w="12700">
            <a:solidFill>
              <a:srgbClr val="E8722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987552"/>
            <a:ext cx="45720" cy="621792"/>
          </a:xfrm>
          <a:prstGeom prst="rect">
            <a:avLst/>
          </a:prstGeom>
          <a:solidFill>
            <a:srgbClr val="E8722A"/>
          </a:solidFill>
          <a:ln w="12700">
            <a:solidFill>
              <a:srgbClr val="E872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5488" y="1005840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7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Test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75488" y="128016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D85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k6 run loadtest/checkout-flow.js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310128" y="987552"/>
            <a:ext cx="2761488" cy="621792"/>
          </a:xfrm>
          <a:prstGeom prst="rect">
            <a:avLst/>
          </a:prstGeom>
          <a:solidFill>
            <a:srgbClr val="1C2128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10128" y="987552"/>
            <a:ext cx="45720" cy="621792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19856" y="1005840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419856" y="128016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D85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localhost:3000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254496" y="987552"/>
            <a:ext cx="2761488" cy="621792"/>
          </a:xfrm>
          <a:prstGeom prst="rect">
            <a:avLst/>
          </a:prstGeom>
          <a:solidFill>
            <a:srgbClr val="1C2128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54496" y="987552"/>
            <a:ext cx="45720" cy="621792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64224" y="1005840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Jaeger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364224" y="128016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D85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localhost:16686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65760" y="1773936"/>
            <a:ext cx="4206240" cy="2871216"/>
          </a:xfrm>
          <a:prstGeom prst="rect">
            <a:avLst/>
          </a:prstGeom>
          <a:solidFill>
            <a:srgbClr val="1C2128"/>
          </a:solidFill>
          <a:ln w="12700">
            <a:solidFill>
              <a:srgbClr val="2D333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1773936"/>
            <a:ext cx="4206240" cy="2871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 GRAFANA SCREENSHOT]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681728" y="1773936"/>
            <a:ext cx="4096512" cy="2871216"/>
          </a:xfrm>
          <a:prstGeom prst="rect">
            <a:avLst/>
          </a:prstGeom>
          <a:solidFill>
            <a:srgbClr val="1C2128"/>
          </a:solidFill>
          <a:ln w="12700">
            <a:solidFill>
              <a:srgbClr val="2D333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81728" y="1773936"/>
            <a:ext cx="4096512" cy="2871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 JAEGER SCREENSHOT]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65760" y="4736592"/>
            <a:ext cx="8412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D8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screenshots — real demo runs live with k6 generating traffic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2026-03-22T01:10:45Z</dcterms:created>
  <dcterms:modified xsi:type="dcterms:W3CDTF">2026-03-22T01:10:45Z</dcterms:modified>
</cp:coreProperties>
</file>