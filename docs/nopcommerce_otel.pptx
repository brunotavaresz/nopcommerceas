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5088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PT" sz="4400" spc="-1" strike="noStrike">
                <a:solidFill>
                  <a:srgbClr val="000000"/>
                </a:solidFill>
                <a:latin typeface="Arial"/>
              </a:rPr>
              <a:t>Clique para mover o diapositivo</a:t>
            </a:r>
            <a:endParaRPr b="0" lang="pt-P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Clique para editar o formato das notas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D7CDBE7-9850-4C01-A85C-BE5C7C278440}" type="slidenum"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26003E-A486-4C34-AEBF-1D1337BD74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338FD1-38C7-4377-9541-8723BBCBE3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3F1EFB-7A59-4325-B0EA-8CF60C9AF9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E6E200-BE52-4435-A535-5E4901C5D2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3F9FAB-A5B6-421B-92F5-C84EBB50E2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DA1071-E3A3-4D7B-84D1-6FBFCFB8ED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4E63FE-C55B-4994-A249-71116B3404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8E83CC-8B61-48D1-AB5D-9218931401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7169F3-A11F-49C6-9842-45CCAAEAA8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2F4673-B0BD-4F5C-B810-3070FFAD5B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PT" sz="4400" spc="-1" strike="noStrike">
                <a:solidFill>
                  <a:srgbClr val="000000"/>
                </a:solidFill>
                <a:latin typeface="Arial"/>
              </a:rPr>
              <a:t>Clique para editar o formato do título</a:t>
            </a:r>
            <a:endParaRPr b="0" lang="pt-P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P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800" spc="-1" strike="noStrike">
                <a:solidFill>
                  <a:srgbClr val="000000"/>
                </a:solidFill>
                <a:latin typeface="Arial"/>
              </a:rPr>
              <a:t>Segundo nível de tópicos</a:t>
            </a:r>
            <a:endParaRPr b="0" lang="pt-P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Terceiro nível de tópicos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Quarto nível de tópicos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Quinto nível de tópicos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Sexto nível de tópicos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Sétimo nível de tópicos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2920" cy="4932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22960" y="1417320"/>
            <a:ext cx="7497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e6edf3"/>
                </a:solidFill>
                <a:latin typeface="Calibri"/>
                <a:ea typeface="Calibri"/>
              </a:rPr>
              <a:t>nopCommerce + OpenTelemetry</a:t>
            </a:r>
            <a:endParaRPr b="0" lang="pt-PT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2423160"/>
            <a:ext cx="74970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7d8590"/>
                </a:solidFill>
                <a:latin typeface="Calibri"/>
                <a:ea typeface="Calibri"/>
              </a:rPr>
              <a:t>Checkout Flow Observability</a:t>
            </a:r>
            <a:endParaRPr b="0" lang="pt-P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22960" y="3036240"/>
            <a:ext cx="2010600" cy="3564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0" y="4814640"/>
            <a:ext cx="9142920" cy="32796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65760" y="4814640"/>
            <a:ext cx="84114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"/>
          <p:cNvSpPr/>
          <p:nvPr/>
        </p:nvSpPr>
        <p:spPr>
          <a:xfrm>
            <a:off x="411480" y="255960"/>
            <a:ext cx="63360" cy="502200"/>
          </a:xfrm>
          <a:prstGeom prst="rect">
            <a:avLst/>
          </a:prstGeom>
          <a:solidFill>
            <a:srgbClr val="e8824a"/>
          </a:solidFill>
          <a:ln w="12700">
            <a:solidFill>
              <a:srgbClr val="e88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33"/>
          <p:cNvSpPr/>
          <p:nvPr/>
        </p:nvSpPr>
        <p:spPr>
          <a:xfrm>
            <a:off x="548640" y="201240"/>
            <a:ext cx="5485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nopCommerce Architecture</a:t>
            </a:r>
            <a:endParaRPr b="0" lang="pt-PT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35"/>
          <p:cNvSpPr/>
          <p:nvPr/>
        </p:nvSpPr>
        <p:spPr>
          <a:xfrm>
            <a:off x="548640" y="48466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a8a9a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34"/>
          <p:cNvSpPr/>
          <p:nvPr/>
        </p:nvSpPr>
        <p:spPr>
          <a:xfrm>
            <a:off x="411480" y="960120"/>
            <a:ext cx="4388400" cy="657720"/>
          </a:xfrm>
          <a:prstGeom prst="rect">
            <a:avLst/>
          </a:prstGeom>
          <a:solidFill>
            <a:srgbClr val="12121f"/>
          </a:solidFill>
          <a:ln w="1270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53"/>
          <p:cNvSpPr/>
          <p:nvPr/>
        </p:nvSpPr>
        <p:spPr>
          <a:xfrm>
            <a:off x="576000" y="101484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c8d8"/>
                </a:solidFill>
                <a:latin typeface="Consolas"/>
                <a:ea typeface="Consolas"/>
              </a:rPr>
              <a:t>Nop.Web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54"/>
          <p:cNvSpPr/>
          <p:nvPr/>
        </p:nvSpPr>
        <p:spPr>
          <a:xfrm>
            <a:off x="576000" y="128016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a8a9a"/>
                </a:solidFill>
                <a:latin typeface="Calibri"/>
                <a:ea typeface="Calibri"/>
              </a:rPr>
              <a:t>HTTP entry point — Controllers, Views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50"/>
          <p:cNvSpPr/>
          <p:nvPr/>
        </p:nvSpPr>
        <p:spPr>
          <a:xfrm>
            <a:off x="2596680" y="1622880"/>
            <a:ext cx="360" cy="64080"/>
          </a:xfrm>
          <a:prstGeom prst="line">
            <a:avLst/>
          </a:prstGeom>
          <a:ln w="19050">
            <a:solidFill>
              <a:srgbClr val="3a3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 anchorCtr="1">
            <a:noAutofit/>
          </a:bodyPr>
          <a:p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51"/>
          <p:cNvSpPr/>
          <p:nvPr/>
        </p:nvSpPr>
        <p:spPr>
          <a:xfrm>
            <a:off x="411480" y="1691640"/>
            <a:ext cx="4388400" cy="657720"/>
          </a:xfrm>
          <a:prstGeom prst="rect">
            <a:avLst/>
          </a:prstGeom>
          <a:solidFill>
            <a:srgbClr val="12121f"/>
          </a:solidFill>
          <a:ln w="1270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55"/>
          <p:cNvSpPr/>
          <p:nvPr/>
        </p:nvSpPr>
        <p:spPr>
          <a:xfrm>
            <a:off x="576000" y="174636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c8d8"/>
                </a:solidFill>
                <a:latin typeface="Consolas"/>
                <a:ea typeface="Consolas"/>
              </a:rPr>
              <a:t>Nop.Web.Framework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56"/>
          <p:cNvSpPr/>
          <p:nvPr/>
        </p:nvSpPr>
        <p:spPr>
          <a:xfrm>
            <a:off x="576000" y="201168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a8a9a"/>
                </a:solidFill>
                <a:latin typeface="Calibri"/>
                <a:ea typeface="Calibri"/>
              </a:rPr>
              <a:t>DI, base infrastructure, middleware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52"/>
          <p:cNvSpPr/>
          <p:nvPr/>
        </p:nvSpPr>
        <p:spPr>
          <a:xfrm>
            <a:off x="2596680" y="2354400"/>
            <a:ext cx="360" cy="64080"/>
          </a:xfrm>
          <a:prstGeom prst="line">
            <a:avLst/>
          </a:prstGeom>
          <a:ln w="19050">
            <a:solidFill>
              <a:srgbClr val="3a3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 anchorCtr="1">
            <a:noAutofit/>
          </a:bodyPr>
          <a:p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53"/>
          <p:cNvSpPr/>
          <p:nvPr/>
        </p:nvSpPr>
        <p:spPr>
          <a:xfrm>
            <a:off x="411480" y="2423160"/>
            <a:ext cx="4388400" cy="657720"/>
          </a:xfrm>
          <a:prstGeom prst="rect">
            <a:avLst/>
          </a:prstGeom>
          <a:solidFill>
            <a:srgbClr val="3d8b7a"/>
          </a:solidFill>
          <a:ln w="25400">
            <a:solidFill>
              <a:srgbClr val="4caf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57"/>
          <p:cNvSpPr/>
          <p:nvPr/>
        </p:nvSpPr>
        <p:spPr>
          <a:xfrm>
            <a:off x="576000" y="247788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Nop.Services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58"/>
          <p:cNvSpPr/>
          <p:nvPr/>
        </p:nvSpPr>
        <p:spPr>
          <a:xfrm>
            <a:off x="576000" y="274356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de7"/>
                </a:solidFill>
                <a:latin typeface="Calibri"/>
                <a:ea typeface="Calibri"/>
              </a:rPr>
              <a:t>Business logic — OrderProcessingService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54"/>
          <p:cNvSpPr/>
          <p:nvPr/>
        </p:nvSpPr>
        <p:spPr>
          <a:xfrm>
            <a:off x="2596680" y="3086280"/>
            <a:ext cx="360" cy="64080"/>
          </a:xfrm>
          <a:prstGeom prst="line">
            <a:avLst/>
          </a:prstGeom>
          <a:ln w="19050">
            <a:solidFill>
              <a:srgbClr val="3a3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 anchorCtr="1">
            <a:noAutofit/>
          </a:bodyPr>
          <a:p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55"/>
          <p:cNvSpPr/>
          <p:nvPr/>
        </p:nvSpPr>
        <p:spPr>
          <a:xfrm>
            <a:off x="411480" y="3155040"/>
            <a:ext cx="4388400" cy="657720"/>
          </a:xfrm>
          <a:prstGeom prst="rect">
            <a:avLst/>
          </a:prstGeom>
          <a:solidFill>
            <a:srgbClr val="12121f"/>
          </a:solidFill>
          <a:ln w="1270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59"/>
          <p:cNvSpPr/>
          <p:nvPr/>
        </p:nvSpPr>
        <p:spPr>
          <a:xfrm>
            <a:off x="576000" y="320976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c8d8"/>
                </a:solidFill>
                <a:latin typeface="Consolas"/>
                <a:ea typeface="Consolas"/>
              </a:rPr>
              <a:t>Nop.Data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60"/>
          <p:cNvSpPr/>
          <p:nvPr/>
        </p:nvSpPr>
        <p:spPr>
          <a:xfrm>
            <a:off x="576000" y="347508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a8a9a"/>
                </a:solidFill>
                <a:latin typeface="Calibri"/>
                <a:ea typeface="Calibri"/>
              </a:rPr>
              <a:t>Repositories, EF Core, migrations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56"/>
          <p:cNvSpPr/>
          <p:nvPr/>
        </p:nvSpPr>
        <p:spPr>
          <a:xfrm>
            <a:off x="2596680" y="3817800"/>
            <a:ext cx="360" cy="64080"/>
          </a:xfrm>
          <a:prstGeom prst="line">
            <a:avLst/>
          </a:prstGeom>
          <a:ln w="19050">
            <a:solidFill>
              <a:srgbClr val="3a3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 anchorCtr="1">
            <a:noAutofit/>
          </a:bodyPr>
          <a:p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57"/>
          <p:cNvSpPr/>
          <p:nvPr/>
        </p:nvSpPr>
        <p:spPr>
          <a:xfrm>
            <a:off x="411480" y="3886560"/>
            <a:ext cx="4388400" cy="657720"/>
          </a:xfrm>
          <a:prstGeom prst="rect">
            <a:avLst/>
          </a:prstGeom>
          <a:solidFill>
            <a:srgbClr val="12121f"/>
          </a:solidFill>
          <a:ln w="1270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61"/>
          <p:cNvSpPr/>
          <p:nvPr/>
        </p:nvSpPr>
        <p:spPr>
          <a:xfrm>
            <a:off x="576000" y="394128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c8d8"/>
                </a:solidFill>
                <a:latin typeface="Consolas"/>
                <a:ea typeface="Consolas"/>
              </a:rPr>
              <a:t>Nop.Core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62"/>
          <p:cNvSpPr/>
          <p:nvPr/>
        </p:nvSpPr>
        <p:spPr>
          <a:xfrm>
            <a:off x="576000" y="4206600"/>
            <a:ext cx="4114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a8a9a"/>
                </a:solidFill>
                <a:latin typeface="Calibri"/>
                <a:ea typeface="Calibri"/>
              </a:rPr>
              <a:t>Entities, interfaces, events (base)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63"/>
          <p:cNvSpPr/>
          <p:nvPr/>
        </p:nvSpPr>
        <p:spPr>
          <a:xfrm>
            <a:off x="411480" y="466380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58"/>
          <p:cNvSpPr/>
          <p:nvPr/>
        </p:nvSpPr>
        <p:spPr>
          <a:xfrm>
            <a:off x="5166360" y="960120"/>
            <a:ext cx="3748320" cy="3931920"/>
          </a:xfrm>
          <a:prstGeom prst="rect">
            <a:avLst/>
          </a:prstGeom>
          <a:solidFill>
            <a:srgbClr val="12121f"/>
          </a:solidFill>
          <a:ln w="12700">
            <a:solidFill>
              <a:srgbClr val="2a2a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64"/>
          <p:cNvSpPr/>
          <p:nvPr/>
        </p:nvSpPr>
        <p:spPr>
          <a:xfrm>
            <a:off x="5349240" y="105156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4caf96"/>
                </a:solidFill>
                <a:latin typeface="Calibri"/>
                <a:ea typeface="Calibri"/>
              </a:rPr>
              <a:t>Why instrument here?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59"/>
          <p:cNvSpPr/>
          <p:nvPr/>
        </p:nvSpPr>
        <p:spPr>
          <a:xfrm>
            <a:off x="4846320" y="2752560"/>
            <a:ext cx="274320" cy="360"/>
          </a:xfrm>
          <a:prstGeom prst="line">
            <a:avLst/>
          </a:prstGeom>
          <a:ln w="25400">
            <a:solidFill>
              <a:srgbClr val="4caf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60"/>
          <p:cNvSpPr/>
          <p:nvPr/>
        </p:nvSpPr>
        <p:spPr>
          <a:xfrm>
            <a:off x="5303520" y="1508760"/>
            <a:ext cx="3474000" cy="474840"/>
          </a:xfrm>
          <a:prstGeom prst="rect">
            <a:avLst/>
          </a:prstGeom>
          <a:solidFill>
            <a:srgbClr val="1c1c30"/>
          </a:solidFill>
          <a:ln w="12700">
            <a:solidFill>
              <a:srgbClr val="2e2e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65"/>
          <p:cNvSpPr/>
          <p:nvPr/>
        </p:nvSpPr>
        <p:spPr>
          <a:xfrm>
            <a:off x="5367600" y="1563480"/>
            <a:ext cx="334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96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c0c0d0"/>
                </a:solidFill>
                <a:latin typeface="Calibri"/>
                <a:ea typeface="Calibri"/>
              </a:rPr>
              <a:t>ASP.NET auto-instrumentation already covers HTTP spans in Nop.Web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61"/>
          <p:cNvSpPr/>
          <p:nvPr/>
        </p:nvSpPr>
        <p:spPr>
          <a:xfrm>
            <a:off x="5303520" y="2075760"/>
            <a:ext cx="3474000" cy="474840"/>
          </a:xfrm>
          <a:prstGeom prst="rect">
            <a:avLst/>
          </a:prstGeom>
          <a:solidFill>
            <a:srgbClr val="1c1c30"/>
          </a:solidFill>
          <a:ln w="12700">
            <a:solidFill>
              <a:srgbClr val="2e2e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66"/>
          <p:cNvSpPr/>
          <p:nvPr/>
        </p:nvSpPr>
        <p:spPr>
          <a:xfrm>
            <a:off x="5367600" y="2130480"/>
            <a:ext cx="334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96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c0c0d0"/>
                </a:solidFill>
                <a:latin typeface="Calibri"/>
                <a:ea typeface="Calibri"/>
              </a:rPr>
              <a:t>SqlClient auto-instrumentation covers SQL queries in Nop.Data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62"/>
          <p:cNvSpPr/>
          <p:nvPr/>
        </p:nvSpPr>
        <p:spPr>
          <a:xfrm>
            <a:off x="5303520" y="2643120"/>
            <a:ext cx="3474000" cy="474840"/>
          </a:xfrm>
          <a:prstGeom prst="rect">
            <a:avLst/>
          </a:prstGeom>
          <a:solidFill>
            <a:srgbClr val="1c1c30"/>
          </a:solidFill>
          <a:ln w="12700">
            <a:solidFill>
              <a:srgbClr val="2e2e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67"/>
          <p:cNvSpPr/>
          <p:nvPr/>
        </p:nvSpPr>
        <p:spPr>
          <a:xfrm>
            <a:off x="5367600" y="2697840"/>
            <a:ext cx="334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96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c0c0d0"/>
                </a:solidFill>
                <a:latin typeface="Calibri"/>
                <a:ea typeface="Calibri"/>
              </a:rPr>
              <a:t>Nop.Services is the gap — payment, persistence, events are orchestrated here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63"/>
          <p:cNvSpPr/>
          <p:nvPr/>
        </p:nvSpPr>
        <p:spPr>
          <a:xfrm>
            <a:off x="5303520" y="3209760"/>
            <a:ext cx="3474000" cy="474840"/>
          </a:xfrm>
          <a:prstGeom prst="rect">
            <a:avLst/>
          </a:prstGeom>
          <a:solidFill>
            <a:srgbClr val="1c1c30"/>
          </a:solidFill>
          <a:ln w="12700">
            <a:solidFill>
              <a:srgbClr val="2e2e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68"/>
          <p:cNvSpPr/>
          <p:nvPr/>
        </p:nvSpPr>
        <p:spPr>
          <a:xfrm>
            <a:off x="5367600" y="3264840"/>
            <a:ext cx="334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96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c0c0d0"/>
                </a:solidFill>
                <a:latin typeface="Calibri"/>
                <a:ea typeface="Calibri"/>
              </a:rPr>
              <a:t>PlaceOrderAsync is the single method that coordinates the entire checkout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64"/>
          <p:cNvSpPr/>
          <p:nvPr/>
        </p:nvSpPr>
        <p:spPr>
          <a:xfrm>
            <a:off x="5303520" y="3776760"/>
            <a:ext cx="3474000" cy="474840"/>
          </a:xfrm>
          <a:prstGeom prst="rect">
            <a:avLst/>
          </a:prstGeom>
          <a:solidFill>
            <a:srgbClr val="1c1c30"/>
          </a:solidFill>
          <a:ln w="12700">
            <a:solidFill>
              <a:srgbClr val="2e2e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69"/>
          <p:cNvSpPr/>
          <p:nvPr/>
        </p:nvSpPr>
        <p:spPr>
          <a:xfrm>
            <a:off x="5367600" y="3831840"/>
            <a:ext cx="334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96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c0c0d0"/>
                </a:solidFill>
                <a:latin typeface="Calibri"/>
                <a:ea typeface="Calibri"/>
              </a:rPr>
              <a:t>Surgical: 3 files changed, business logic untouched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365760" y="274320"/>
            <a:ext cx="44640" cy="5292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02920" y="2559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6edf3"/>
                </a:solidFill>
                <a:latin typeface="Calibri"/>
                <a:ea typeface="Calibri"/>
              </a:rPr>
              <a:t>Instrumentation Decision</a:t>
            </a:r>
            <a:endParaRPr b="0" lang="pt-P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365760" y="877680"/>
            <a:ext cx="8411400" cy="190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0" y="4906080"/>
            <a:ext cx="9142920" cy="23652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365760" y="4906080"/>
            <a:ext cx="8411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5"/>
          <p:cNvSpPr/>
          <p:nvPr/>
        </p:nvSpPr>
        <p:spPr>
          <a:xfrm>
            <a:off x="365760" y="1005840"/>
            <a:ext cx="1782000" cy="419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365760" y="1005840"/>
            <a:ext cx="17820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alibri"/>
                <a:ea typeface="Calibri"/>
              </a:rPr>
              <a:t>Browser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2148840" y="1195920"/>
            <a:ext cx="127080" cy="39240"/>
          </a:xfrm>
          <a:prstGeom prst="rect">
            <a:avLst/>
          </a:prstGeom>
          <a:solidFill>
            <a:srgbClr val="7d8590"/>
          </a:solidFill>
          <a:ln w="12700">
            <a:solidFill>
              <a:srgbClr val="7d85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2240280" y="1170360"/>
            <a:ext cx="35640" cy="90360"/>
          </a:xfrm>
          <a:prstGeom prst="rect">
            <a:avLst/>
          </a:prstGeom>
          <a:solidFill>
            <a:srgbClr val="7d8590"/>
          </a:solidFill>
          <a:ln w="12700">
            <a:solidFill>
              <a:srgbClr val="7d85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2277000" y="1005840"/>
            <a:ext cx="1782000" cy="419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2277000" y="1005840"/>
            <a:ext cx="17820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alibri"/>
                <a:ea typeface="Calibri"/>
              </a:rPr>
              <a:t>CheckoutController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4060080" y="1195920"/>
            <a:ext cx="127080" cy="39240"/>
          </a:xfrm>
          <a:prstGeom prst="rect">
            <a:avLst/>
          </a:prstGeom>
          <a:solidFill>
            <a:srgbClr val="7d8590"/>
          </a:solidFill>
          <a:ln w="12700">
            <a:solidFill>
              <a:srgbClr val="7d85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2"/>
          <p:cNvSpPr/>
          <p:nvPr/>
        </p:nvSpPr>
        <p:spPr>
          <a:xfrm>
            <a:off x="4151520" y="1170360"/>
            <a:ext cx="35640" cy="90360"/>
          </a:xfrm>
          <a:prstGeom prst="rect">
            <a:avLst/>
          </a:prstGeom>
          <a:solidFill>
            <a:srgbClr val="7d8590"/>
          </a:solidFill>
          <a:ln w="12700">
            <a:solidFill>
              <a:srgbClr val="7d85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3"/>
          <p:cNvSpPr/>
          <p:nvPr/>
        </p:nvSpPr>
        <p:spPr>
          <a:xfrm>
            <a:off x="4187880" y="1005840"/>
            <a:ext cx="1782000" cy="4194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4187880" y="1005840"/>
            <a:ext cx="17820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11318"/>
                </a:solidFill>
                <a:latin typeface="Calibri"/>
                <a:ea typeface="Calibri"/>
              </a:rPr>
              <a:t>OrderProcessingService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5"/>
          <p:cNvSpPr/>
          <p:nvPr/>
        </p:nvSpPr>
        <p:spPr>
          <a:xfrm>
            <a:off x="5970960" y="1195920"/>
            <a:ext cx="127080" cy="39240"/>
          </a:xfrm>
          <a:prstGeom prst="rect">
            <a:avLst/>
          </a:prstGeom>
          <a:solidFill>
            <a:srgbClr val="7d8590"/>
          </a:solidFill>
          <a:ln w="12700">
            <a:solidFill>
              <a:srgbClr val="7d85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6"/>
          <p:cNvSpPr/>
          <p:nvPr/>
        </p:nvSpPr>
        <p:spPr>
          <a:xfrm>
            <a:off x="6062400" y="1170360"/>
            <a:ext cx="35640" cy="90360"/>
          </a:xfrm>
          <a:prstGeom prst="rect">
            <a:avLst/>
          </a:prstGeom>
          <a:solidFill>
            <a:srgbClr val="7d8590"/>
          </a:solidFill>
          <a:ln w="12700">
            <a:solidFill>
              <a:srgbClr val="7d85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7"/>
          <p:cNvSpPr/>
          <p:nvPr/>
        </p:nvSpPr>
        <p:spPr>
          <a:xfrm>
            <a:off x="6099120" y="1005840"/>
            <a:ext cx="1782000" cy="41940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6099120" y="1005840"/>
            <a:ext cx="17820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edf3"/>
                </a:solidFill>
                <a:latin typeface="Calibri"/>
                <a:ea typeface="Calibri"/>
              </a:rPr>
              <a:t>SQL Server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9"/>
          <p:cNvSpPr/>
          <p:nvPr/>
        </p:nvSpPr>
        <p:spPr>
          <a:xfrm>
            <a:off x="365760" y="1572840"/>
            <a:ext cx="8411400" cy="190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20"/>
          <p:cNvSpPr/>
          <p:nvPr/>
        </p:nvSpPr>
        <p:spPr>
          <a:xfrm>
            <a:off x="365760" y="1901880"/>
            <a:ext cx="49320" cy="4932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530280" y="1719000"/>
            <a:ext cx="8228520" cy="6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  <a:ea typeface="Calibri"/>
              </a:rPr>
              <a:t>Chose "Customer places an order" — the most business-critical flow; if checkout fails, the store loses money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365760" y="2670480"/>
            <a:ext cx="49320" cy="4932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530280" y="2487240"/>
            <a:ext cx="8228520" cy="6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  <a:ea typeface="Calibri"/>
              </a:rPr>
              <a:t>Instrumented at OrderProcessingService.PlaceOrderAsync — where payment, persistence, notifications and events are orchestrated in a single method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24"/>
          <p:cNvSpPr/>
          <p:nvPr/>
        </p:nvSpPr>
        <p:spPr>
          <a:xfrm>
            <a:off x="365760" y="3438360"/>
            <a:ext cx="49320" cy="4932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530280" y="3255480"/>
            <a:ext cx="8228520" cy="6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  <a:ea typeface="Calibri"/>
              </a:rPr>
              <a:t>ASP.NET auto-instrumentation covers HTTP. SqlClient covers SQL. I only needed to instrument what's in between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6"/>
          <p:cNvSpPr/>
          <p:nvPr/>
        </p:nvSpPr>
        <p:spPr>
          <a:xfrm>
            <a:off x="365760" y="4206600"/>
            <a:ext cx="49320" cy="4932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7"/>
          <p:cNvSpPr/>
          <p:nvPr/>
        </p:nvSpPr>
        <p:spPr>
          <a:xfrm>
            <a:off x="530280" y="4023720"/>
            <a:ext cx="8228520" cy="6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6edf3"/>
                </a:solidFill>
                <a:latin typeface="Calibri"/>
                <a:ea typeface="Calibri"/>
              </a:rPr>
              <a:t>Surgical approach: 3 files changed (OrderProcessingService.cs, Program.cs, NopTelemetryConstants.cs), business logic untouched, zero overhead if OTel SDK is absent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365760" y="274320"/>
            <a:ext cx="44640" cy="5292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02920" y="2559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6edf3"/>
                </a:solidFill>
                <a:latin typeface="Calibri"/>
                <a:ea typeface="Calibri"/>
              </a:rPr>
              <a:t>End-to-End Tracing</a:t>
            </a:r>
            <a:endParaRPr b="0" lang="pt-P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365760" y="877680"/>
            <a:ext cx="8411400" cy="190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0" y="4906080"/>
            <a:ext cx="9142920" cy="23652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365760" y="4906080"/>
            <a:ext cx="8411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384120" y="996840"/>
            <a:ext cx="64911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d8590"/>
                </a:solidFill>
                <a:latin typeface="Consolas"/>
                <a:ea typeface="Consolas"/>
              </a:rPr>
              <a:t>POST /checkout/OpcConfirmOrder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6949440" y="1014840"/>
            <a:ext cx="1827720" cy="119160"/>
          </a:xfrm>
          <a:prstGeom prst="rect">
            <a:avLst/>
          </a:prstGeom>
          <a:solidFill>
            <a:srgbClr val="191e25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6949440" y="1014840"/>
            <a:ext cx="182772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d8590"/>
                </a:solidFill>
                <a:latin typeface="Calibri"/>
                <a:ea typeface="Calibri"/>
              </a:rPr>
              <a:t>auto - ASP.NET</a:t>
            </a:r>
            <a:endParaRPr b="0" lang="pt-PT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429840" y="1305000"/>
            <a:ext cx="145080" cy="136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0240" bIns="-302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612720" y="1226520"/>
            <a:ext cx="6289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checkout.place_order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6949440" y="1244880"/>
            <a:ext cx="1827720" cy="119160"/>
          </a:xfrm>
          <a:prstGeom prst="rect">
            <a:avLst/>
          </a:prstGeom>
          <a:solidFill>
            <a:srgbClr val="1a262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6949440" y="1244880"/>
            <a:ext cx="182772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fb950"/>
                </a:solidFill>
                <a:latin typeface="Calibri"/>
                <a:ea typeface="Calibri"/>
              </a:rPr>
              <a:t>custom</a:t>
            </a:r>
            <a:endParaRPr b="0" lang="pt-PT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2"/>
          <p:cNvSpPr/>
          <p:nvPr/>
        </p:nvSpPr>
        <p:spPr>
          <a:xfrm>
            <a:off x="658440" y="1534680"/>
            <a:ext cx="145080" cy="136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0240" bIns="-302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841320" y="1456560"/>
            <a:ext cx="6088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checkout.process_payment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6949440" y="1474920"/>
            <a:ext cx="1827720" cy="119160"/>
          </a:xfrm>
          <a:prstGeom prst="rect">
            <a:avLst/>
          </a:prstGeom>
          <a:solidFill>
            <a:srgbClr val="1a262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6949440" y="1474920"/>
            <a:ext cx="182772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fb950"/>
                </a:solidFill>
                <a:latin typeface="Calibri"/>
                <a:ea typeface="Calibri"/>
              </a:rPr>
              <a:t>custom</a:t>
            </a:r>
            <a:endParaRPr b="0" lang="pt-PT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16"/>
          <p:cNvSpPr/>
          <p:nvPr/>
        </p:nvSpPr>
        <p:spPr>
          <a:xfrm>
            <a:off x="658440" y="1764720"/>
            <a:ext cx="145080" cy="136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0240" bIns="-302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841320" y="1686240"/>
            <a:ext cx="6088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checkout.save_order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6949440" y="1704600"/>
            <a:ext cx="1827720" cy="119160"/>
          </a:xfrm>
          <a:prstGeom prst="rect">
            <a:avLst/>
          </a:prstGeom>
          <a:solidFill>
            <a:srgbClr val="1a262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6949440" y="1704600"/>
            <a:ext cx="182772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fb950"/>
                </a:solidFill>
                <a:latin typeface="Calibri"/>
                <a:ea typeface="Calibri"/>
              </a:rPr>
              <a:t>custom</a:t>
            </a:r>
            <a:endParaRPr b="0" lang="pt-PT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20"/>
          <p:cNvSpPr/>
          <p:nvPr/>
        </p:nvSpPr>
        <p:spPr>
          <a:xfrm>
            <a:off x="887040" y="1994760"/>
            <a:ext cx="145080" cy="136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0240" bIns="-302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1069920" y="1916280"/>
            <a:ext cx="5887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SQL queries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22"/>
          <p:cNvSpPr/>
          <p:nvPr/>
        </p:nvSpPr>
        <p:spPr>
          <a:xfrm>
            <a:off x="6949440" y="1934640"/>
            <a:ext cx="1827720" cy="119160"/>
          </a:xfrm>
          <a:prstGeom prst="rect">
            <a:avLst/>
          </a:prstGeom>
          <a:solidFill>
            <a:srgbClr val="191e25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3"/>
          <p:cNvSpPr/>
          <p:nvPr/>
        </p:nvSpPr>
        <p:spPr>
          <a:xfrm>
            <a:off x="6949440" y="1934640"/>
            <a:ext cx="182772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d8590"/>
                </a:solidFill>
                <a:latin typeface="Calibri"/>
                <a:ea typeface="Calibri"/>
              </a:rPr>
              <a:t>auto - SqlClient</a:t>
            </a:r>
            <a:endParaRPr b="0" lang="pt-PT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24"/>
          <p:cNvSpPr/>
          <p:nvPr/>
        </p:nvSpPr>
        <p:spPr>
          <a:xfrm>
            <a:off x="658440" y="2224440"/>
            <a:ext cx="145080" cy="136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0240" bIns="-302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841320" y="2146320"/>
            <a:ext cx="6088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checkout.send_notifications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26"/>
          <p:cNvSpPr/>
          <p:nvPr/>
        </p:nvSpPr>
        <p:spPr>
          <a:xfrm>
            <a:off x="6949440" y="2164680"/>
            <a:ext cx="1827720" cy="119160"/>
          </a:xfrm>
          <a:prstGeom prst="rect">
            <a:avLst/>
          </a:prstGeom>
          <a:solidFill>
            <a:srgbClr val="1a262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6949440" y="2164680"/>
            <a:ext cx="182772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fb950"/>
                </a:solidFill>
                <a:latin typeface="Calibri"/>
                <a:ea typeface="Calibri"/>
              </a:rPr>
              <a:t>custom</a:t>
            </a:r>
            <a:endParaRPr b="0" lang="pt-PT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28"/>
          <p:cNvSpPr/>
          <p:nvPr/>
        </p:nvSpPr>
        <p:spPr>
          <a:xfrm>
            <a:off x="658440" y="2454480"/>
            <a:ext cx="145080" cy="136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0240" bIns="-302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9"/>
          <p:cNvSpPr/>
          <p:nvPr/>
        </p:nvSpPr>
        <p:spPr>
          <a:xfrm>
            <a:off x="841320" y="2376000"/>
            <a:ext cx="6088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edf3"/>
                </a:solidFill>
                <a:latin typeface="Consolas"/>
                <a:ea typeface="Consolas"/>
              </a:rPr>
              <a:t>checkout.publish_event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30"/>
          <p:cNvSpPr/>
          <p:nvPr/>
        </p:nvSpPr>
        <p:spPr>
          <a:xfrm>
            <a:off x="6949440" y="2394360"/>
            <a:ext cx="1827720" cy="119160"/>
          </a:xfrm>
          <a:prstGeom prst="rect">
            <a:avLst/>
          </a:prstGeom>
          <a:solidFill>
            <a:srgbClr val="1a262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31"/>
          <p:cNvSpPr/>
          <p:nvPr/>
        </p:nvSpPr>
        <p:spPr>
          <a:xfrm>
            <a:off x="6949440" y="2394360"/>
            <a:ext cx="182772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fb950"/>
                </a:solidFill>
                <a:latin typeface="Calibri"/>
                <a:ea typeface="Calibri"/>
              </a:rPr>
              <a:t>custom</a:t>
            </a:r>
            <a:endParaRPr b="0" lang="pt-PT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33"/>
          <p:cNvSpPr/>
          <p:nvPr/>
        </p:nvSpPr>
        <p:spPr>
          <a:xfrm>
            <a:off x="365760" y="2716200"/>
            <a:ext cx="8429760" cy="191952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34"/>
          <p:cNvSpPr/>
          <p:nvPr/>
        </p:nvSpPr>
        <p:spPr>
          <a:xfrm>
            <a:off x="365760" y="4700520"/>
            <a:ext cx="8429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Included: order.total, payment.method, order.items   |   Excluded: emails, addresses, names, card numbers (zero PII)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6480" y="2700000"/>
            <a:ext cx="9143280" cy="191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365760" y="274320"/>
            <a:ext cx="44640" cy="5292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02920" y="2559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6edf3"/>
                </a:solidFill>
                <a:latin typeface="Calibri"/>
                <a:ea typeface="Calibri"/>
              </a:rPr>
              <a:t>3 Custom Metrics — The 2am Test</a:t>
            </a:r>
            <a:endParaRPr b="0" lang="pt-P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365760" y="877680"/>
            <a:ext cx="8411400" cy="190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0" y="4906080"/>
            <a:ext cx="9142920" cy="23652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365760" y="4906080"/>
            <a:ext cx="8411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365760" y="1005840"/>
            <a:ext cx="2925000" cy="36468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438840" y="1005840"/>
            <a:ext cx="2833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11318"/>
                </a:solidFill>
                <a:latin typeface="Calibri"/>
                <a:ea typeface="Calibri"/>
              </a:rPr>
              <a:t>Metric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3383280" y="1005840"/>
            <a:ext cx="1004760" cy="36468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3456360" y="100584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11318"/>
                </a:solidFill>
                <a:latin typeface="Calibri"/>
                <a:ea typeface="Calibri"/>
              </a:rPr>
              <a:t>Type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4480560" y="1005840"/>
            <a:ext cx="4570920" cy="36468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4553640" y="1005840"/>
            <a:ext cx="4479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11318"/>
                </a:solidFill>
                <a:latin typeface="Calibri"/>
                <a:ea typeface="Calibri"/>
              </a:rPr>
              <a:t>If it fires at 2am, the on-call engineer knows...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365760" y="1408320"/>
            <a:ext cx="2925000" cy="7120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457200" y="1408320"/>
            <a:ext cx="27968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9c0ff"/>
                </a:solidFill>
                <a:latin typeface="Consolas"/>
                <a:ea typeface="Consolas"/>
              </a:rPr>
              <a:t>nop.checkout.place_order.attempts</a:t>
            </a:r>
            <a:endParaRPr b="0" lang="pt-P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3383280" y="1408320"/>
            <a:ext cx="1004760" cy="7120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3474720" y="1408320"/>
            <a:ext cx="87660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alibri"/>
                <a:ea typeface="Calibri"/>
              </a:rPr>
              <a:t>Counter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4480560" y="1408320"/>
            <a:ext cx="4570920" cy="7120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4572000" y="1408320"/>
            <a:ext cx="444276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Checkout volume dropped or spiked abnormally — checkout may be unreachable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365760" y="2157840"/>
            <a:ext cx="2925000" cy="712080"/>
          </a:xfrm>
          <a:prstGeom prst="rect">
            <a:avLst/>
          </a:prstGeom>
          <a:solidFill>
            <a:srgbClr val="191e25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457200" y="2157840"/>
            <a:ext cx="27968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9c0ff"/>
                </a:solidFill>
                <a:latin typeface="Consolas"/>
                <a:ea typeface="Consolas"/>
              </a:rPr>
              <a:t>nop.checkout.place_order.failures</a:t>
            </a:r>
            <a:endParaRPr b="0" lang="pt-P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9"/>
          <p:cNvSpPr/>
          <p:nvPr/>
        </p:nvSpPr>
        <p:spPr>
          <a:xfrm>
            <a:off x="3383280" y="2157840"/>
            <a:ext cx="1004760" cy="712080"/>
          </a:xfrm>
          <a:prstGeom prst="rect">
            <a:avLst/>
          </a:prstGeom>
          <a:solidFill>
            <a:srgbClr val="191e25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3474720" y="2157840"/>
            <a:ext cx="87660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alibri"/>
                <a:ea typeface="Calibri"/>
              </a:rPr>
              <a:t>Counter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4480560" y="2157840"/>
            <a:ext cx="4570920" cy="712080"/>
          </a:xfrm>
          <a:prstGeom prst="rect">
            <a:avLst/>
          </a:prstGeom>
          <a:solidFill>
            <a:srgbClr val="191e25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4572000" y="2157840"/>
            <a:ext cx="444276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The checkout pipeline is broken — users cannot complete orders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23"/>
          <p:cNvSpPr/>
          <p:nvPr/>
        </p:nvSpPr>
        <p:spPr>
          <a:xfrm>
            <a:off x="365760" y="2908080"/>
            <a:ext cx="2925000" cy="7120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457200" y="2908080"/>
            <a:ext cx="27968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9c0ff"/>
                </a:solidFill>
                <a:latin typeface="Consolas"/>
                <a:ea typeface="Consolas"/>
              </a:rPr>
              <a:t>nop.checkout.place_order.duration</a:t>
            </a:r>
            <a:endParaRPr b="0" lang="pt-P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25"/>
          <p:cNvSpPr/>
          <p:nvPr/>
        </p:nvSpPr>
        <p:spPr>
          <a:xfrm>
            <a:off x="3383280" y="2908080"/>
            <a:ext cx="1004760" cy="7120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6"/>
          <p:cNvSpPr/>
          <p:nvPr/>
        </p:nvSpPr>
        <p:spPr>
          <a:xfrm>
            <a:off x="3474720" y="2908080"/>
            <a:ext cx="87660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alibri"/>
                <a:ea typeface="Calibri"/>
              </a:rPr>
              <a:t>Histogram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27"/>
          <p:cNvSpPr/>
          <p:nvPr/>
        </p:nvSpPr>
        <p:spPr>
          <a:xfrm>
            <a:off x="4480560" y="2908080"/>
            <a:ext cx="4570920" cy="7120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8"/>
          <p:cNvSpPr/>
          <p:nvPr/>
        </p:nvSpPr>
        <p:spPr>
          <a:xfrm>
            <a:off x="4572000" y="2908080"/>
            <a:ext cx="444276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DB or payment gateway is degraded — p95 rising before visible errors appear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29"/>
          <p:cNvSpPr/>
          <p:nvPr/>
        </p:nvSpPr>
        <p:spPr>
          <a:xfrm>
            <a:off x="365760" y="4298040"/>
            <a:ext cx="8411400" cy="346320"/>
          </a:xfrm>
          <a:prstGeom prst="rect">
            <a:avLst/>
          </a:prstGeom>
          <a:solidFill>
            <a:srgbClr val="1c2128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30"/>
          <p:cNvSpPr/>
          <p:nvPr/>
        </p:nvSpPr>
        <p:spPr>
          <a:xfrm>
            <a:off x="530280" y="4298040"/>
            <a:ext cx="8137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722a"/>
                </a:solidFill>
                <a:latin typeface="Calibri"/>
                <a:ea typeface="Calibri"/>
              </a:rPr>
              <a:t>attempts + failures  →  error rate in Grafana     |     duration  →  detects degradation before failures become visible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365760" y="274320"/>
            <a:ext cx="44640" cy="5292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502920" y="2559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6edf3"/>
                </a:solidFill>
                <a:latin typeface="Calibri"/>
                <a:ea typeface="Calibri"/>
              </a:rPr>
              <a:t>Privacy — Defence in Depth</a:t>
            </a:r>
            <a:endParaRPr b="0" lang="pt-P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365760" y="877680"/>
            <a:ext cx="8411400" cy="190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0" y="4906080"/>
            <a:ext cx="9142920" cy="23652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365760" y="4906080"/>
            <a:ext cx="8411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365760" y="987480"/>
            <a:ext cx="4159440" cy="306252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365760" y="987480"/>
            <a:ext cx="4159440" cy="35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511920" y="1078920"/>
            <a:ext cx="3939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fb950"/>
                </a:solidFill>
                <a:latin typeface="Calibri"/>
                <a:ea typeface="Calibri"/>
              </a:rPr>
              <a:t>In code</a:t>
            </a:r>
            <a:endParaRPr b="0" lang="pt-P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8"/>
          <p:cNvSpPr/>
          <p:nvPr/>
        </p:nvSpPr>
        <p:spPr>
          <a:xfrm>
            <a:off x="511920" y="1682640"/>
            <a:ext cx="81360" cy="813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658440" y="1554480"/>
            <a:ext cx="375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Span attributes are strictly operational: order.total, payment.method, order.items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511920" y="2487240"/>
            <a:ext cx="81360" cy="813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658440" y="2359080"/>
            <a:ext cx="375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No emails, addresses, names or card numbers are ever recorded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2"/>
          <p:cNvSpPr/>
          <p:nvPr/>
        </p:nvSpPr>
        <p:spPr>
          <a:xfrm>
            <a:off x="511920" y="3292200"/>
            <a:ext cx="81360" cy="813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658440" y="3164040"/>
            <a:ext cx="375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Explicit decision for every attribute — full control at the point of instrumentation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4754880" y="987480"/>
            <a:ext cx="4159440" cy="306252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4754880" y="987480"/>
            <a:ext cx="4159440" cy="3564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4901040" y="1078920"/>
            <a:ext cx="3939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722a"/>
                </a:solidFill>
                <a:latin typeface="Calibri"/>
                <a:ea typeface="Calibri"/>
              </a:rPr>
              <a:t>OTel Collector — pii-redact processor</a:t>
            </a:r>
            <a:endParaRPr b="0" lang="pt-P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17"/>
          <p:cNvSpPr/>
          <p:nvPr/>
        </p:nvSpPr>
        <p:spPr>
          <a:xfrm>
            <a:off x="4901040" y="1682640"/>
            <a:ext cx="81360" cy="81360"/>
          </a:xfrm>
          <a:prstGeom prst="ellipse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5047560" y="1554480"/>
            <a:ext cx="375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Deletes before export: authorization headers, cookies, emails, SQL statements, query strings, request bodies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4901040" y="2487240"/>
            <a:ext cx="81360" cy="81360"/>
          </a:xfrm>
          <a:prstGeom prst="ellipse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047560" y="2359080"/>
            <a:ext cx="375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Why here? Auto-instrumentation (ASP.NET, SqlClient) can capture PII without my control — the Collector is the last barrier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21"/>
          <p:cNvSpPr/>
          <p:nvPr/>
        </p:nvSpPr>
        <p:spPr>
          <a:xfrm>
            <a:off x="4901040" y="3292200"/>
            <a:ext cx="81360" cy="81360"/>
          </a:xfrm>
          <a:prstGeom prst="ellipse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5047560" y="3164040"/>
            <a:ext cx="375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Even if something escapes in code, it is filtered here before reaching Jaeger or Prometheus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23"/>
          <p:cNvSpPr/>
          <p:nvPr/>
        </p:nvSpPr>
        <p:spPr>
          <a:xfrm>
            <a:off x="365760" y="4160880"/>
            <a:ext cx="8411400" cy="346320"/>
          </a:xfrm>
          <a:prstGeom prst="rect">
            <a:avLst/>
          </a:prstGeom>
          <a:solidFill>
            <a:srgbClr val="1c1215"/>
          </a:solidFill>
          <a:ln w="12700">
            <a:solidFill>
              <a:srgbClr val="f851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530280" y="4160880"/>
            <a:ext cx="8137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85149"/>
                </a:solidFill>
                <a:latin typeface="Calibri"/>
                <a:ea typeface="Calibri"/>
              </a:rPr>
              <a:t>Rejected alternative: filtering only in code — fragile, auto-instrumentation escapes our control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365760" y="274320"/>
            <a:ext cx="44640" cy="5292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02920" y="2559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6edf3"/>
                </a:solidFill>
                <a:latin typeface="Calibri"/>
                <a:ea typeface="Calibri"/>
              </a:rPr>
              <a:t>What I Did NOT Instrument — and Why</a:t>
            </a:r>
            <a:endParaRPr b="0" lang="pt-P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365760" y="877680"/>
            <a:ext cx="8411400" cy="190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0" y="4906080"/>
            <a:ext cx="9142920" cy="23652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365760" y="4906080"/>
            <a:ext cx="8411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365760" y="1005840"/>
            <a:ext cx="2559240" cy="3646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457200" y="1005840"/>
            <a:ext cx="2431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722a"/>
                </a:solidFill>
                <a:latin typeface="Calibri"/>
                <a:ea typeface="Calibri"/>
              </a:rPr>
              <a:t>Not instrumented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3017520" y="1005840"/>
            <a:ext cx="5759640" cy="36468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3108960" y="1005840"/>
            <a:ext cx="563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722a"/>
                </a:solidFill>
                <a:latin typeface="Calibri"/>
                <a:ea typeface="Calibri"/>
              </a:rPr>
              <a:t>Reasoning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365760" y="1408320"/>
            <a:ext cx="255924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457200" y="1408320"/>
            <a:ext cx="24310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Controllers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1"/>
          <p:cNvSpPr/>
          <p:nvPr/>
        </p:nvSpPr>
        <p:spPr>
          <a:xfrm>
            <a:off x="3017520" y="1408320"/>
            <a:ext cx="575964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3108960" y="1408320"/>
            <a:ext cx="56314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d8590"/>
                </a:solidFill>
                <a:latin typeface="Calibri"/>
                <a:ea typeface="Calibri"/>
              </a:rPr>
              <a:t>ASP.NET auto-instrumentation already covers all HTTP spans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365760" y="2066400"/>
            <a:ext cx="2559240" cy="620640"/>
          </a:xfrm>
          <a:prstGeom prst="rect">
            <a:avLst/>
          </a:prstGeom>
          <a:solidFill>
            <a:srgbClr val="191e25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457200" y="2066400"/>
            <a:ext cx="24310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Generic EventPublisher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15"/>
          <p:cNvSpPr/>
          <p:nvPr/>
        </p:nvSpPr>
        <p:spPr>
          <a:xfrm>
            <a:off x="3017520" y="2066400"/>
            <a:ext cx="5759640" cy="620640"/>
          </a:xfrm>
          <a:prstGeom prst="rect">
            <a:avLst/>
          </a:prstGeom>
          <a:solidFill>
            <a:srgbClr val="191e25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3108960" y="2066400"/>
            <a:ext cx="56314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d8590"/>
                </a:solidFill>
                <a:latin typeface="Calibri"/>
                <a:ea typeface="Calibri"/>
              </a:rPr>
              <a:t>Would affect the entire system (login, newsletter...) — instrumented only the OrderPlacedEvent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7"/>
          <p:cNvSpPr/>
          <p:nvPr/>
        </p:nvSpPr>
        <p:spPr>
          <a:xfrm>
            <a:off x="365760" y="2725200"/>
            <a:ext cx="255924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8"/>
          <p:cNvSpPr/>
          <p:nvPr/>
        </p:nvSpPr>
        <p:spPr>
          <a:xfrm>
            <a:off x="457200" y="2725200"/>
            <a:ext cx="24310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Plugins (Brevo, Avalara)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9"/>
          <p:cNvSpPr/>
          <p:nvPr/>
        </p:nvSpPr>
        <p:spPr>
          <a:xfrm>
            <a:off x="3017520" y="2725200"/>
            <a:ext cx="575964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0"/>
          <p:cNvSpPr/>
          <p:nvPr/>
        </p:nvSpPr>
        <p:spPr>
          <a:xfrm>
            <a:off x="3108960" y="2725200"/>
            <a:ext cx="56314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d8590"/>
                </a:solidFill>
                <a:latin typeface="Calibri"/>
                <a:ea typeface="Calibri"/>
              </a:rPr>
              <a:t>Independent modules, out of checkout scope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21"/>
          <p:cNvSpPr/>
          <p:nvPr/>
        </p:nvSpPr>
        <p:spPr>
          <a:xfrm>
            <a:off x="365760" y="3383640"/>
            <a:ext cx="2559240" cy="620640"/>
          </a:xfrm>
          <a:prstGeom prst="rect">
            <a:avLst/>
          </a:prstGeom>
          <a:solidFill>
            <a:srgbClr val="191e25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2"/>
          <p:cNvSpPr/>
          <p:nvPr/>
        </p:nvSpPr>
        <p:spPr>
          <a:xfrm>
            <a:off x="457200" y="3383640"/>
            <a:ext cx="24310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6edf3"/>
                </a:solidFill>
                <a:latin typeface="Calibri"/>
                <a:ea typeface="Calibri"/>
              </a:rPr>
              <a:t>Cache (IStaticCacheManager)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23"/>
          <p:cNvSpPr/>
          <p:nvPr/>
        </p:nvSpPr>
        <p:spPr>
          <a:xfrm>
            <a:off x="3017520" y="3383640"/>
            <a:ext cx="5759640" cy="620640"/>
          </a:xfrm>
          <a:prstGeom prst="rect">
            <a:avLst/>
          </a:prstGeom>
          <a:solidFill>
            <a:srgbClr val="191e25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4"/>
          <p:cNvSpPr/>
          <p:nvPr/>
        </p:nvSpPr>
        <p:spPr>
          <a:xfrm>
            <a:off x="3108960" y="3383640"/>
            <a:ext cx="56314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d8590"/>
                </a:solidFill>
                <a:latin typeface="Calibri"/>
                <a:ea typeface="Calibri"/>
              </a:rPr>
              <a:t>Overhead on thousands of operations per request — noise with no value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25"/>
          <p:cNvSpPr/>
          <p:nvPr/>
        </p:nvSpPr>
        <p:spPr>
          <a:xfrm>
            <a:off x="365760" y="4160880"/>
            <a:ext cx="8411400" cy="437760"/>
          </a:xfrm>
          <a:prstGeom prst="rect">
            <a:avLst/>
          </a:prstGeom>
          <a:solidFill>
            <a:srgbClr val="1c2128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6"/>
          <p:cNvSpPr/>
          <p:nvPr/>
        </p:nvSpPr>
        <p:spPr>
          <a:xfrm>
            <a:off x="502920" y="4160880"/>
            <a:ext cx="82285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d8590"/>
                </a:solidFill>
                <a:latin typeface="Calibri"/>
                <a:ea typeface="Calibri"/>
              </a:rPr>
              <a:t>Internal checkout methods are protected virtual — subclass override would be possible but fragile and disproportionate. Chose direct surgical change in the service.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365760" y="274320"/>
            <a:ext cx="44640" cy="5292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502920" y="2559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6edf3"/>
                </a:solidFill>
                <a:latin typeface="Calibri"/>
                <a:ea typeface="Calibri"/>
              </a:rPr>
              <a:t>Live Demo</a:t>
            </a:r>
            <a:endParaRPr b="0" lang="pt-P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365760" y="877680"/>
            <a:ext cx="8411400" cy="190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3"/>
          <p:cNvSpPr/>
          <p:nvPr/>
        </p:nvSpPr>
        <p:spPr>
          <a:xfrm>
            <a:off x="0" y="4906080"/>
            <a:ext cx="9142920" cy="23652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365760" y="4906080"/>
            <a:ext cx="8411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5"/>
          <p:cNvSpPr/>
          <p:nvPr/>
        </p:nvSpPr>
        <p:spPr>
          <a:xfrm>
            <a:off x="365760" y="987480"/>
            <a:ext cx="276048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6"/>
          <p:cNvSpPr/>
          <p:nvPr/>
        </p:nvSpPr>
        <p:spPr>
          <a:xfrm>
            <a:off x="365760" y="987480"/>
            <a:ext cx="44640" cy="62064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475560" y="1005840"/>
            <a:ext cx="2559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722a"/>
                </a:solidFill>
                <a:latin typeface="Calibri"/>
                <a:ea typeface="Calibri"/>
              </a:rPr>
              <a:t>Load Test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475560" y="128016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k6 run loadtest/checkout-flow.js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3310200" y="987480"/>
            <a:ext cx="276048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3310200" y="987480"/>
            <a:ext cx="44640" cy="620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3420000" y="1005840"/>
            <a:ext cx="2559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fb950"/>
                </a:solidFill>
                <a:latin typeface="Calibri"/>
                <a:ea typeface="Calibri"/>
              </a:rPr>
              <a:t>Grafana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3420000" y="128016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localhost:3000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13"/>
          <p:cNvSpPr/>
          <p:nvPr/>
        </p:nvSpPr>
        <p:spPr>
          <a:xfrm>
            <a:off x="6254640" y="987480"/>
            <a:ext cx="276048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14"/>
          <p:cNvSpPr/>
          <p:nvPr/>
        </p:nvSpPr>
        <p:spPr>
          <a:xfrm>
            <a:off x="6254640" y="987480"/>
            <a:ext cx="44640" cy="620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5"/>
          <p:cNvSpPr/>
          <p:nvPr/>
        </p:nvSpPr>
        <p:spPr>
          <a:xfrm>
            <a:off x="6364080" y="1005840"/>
            <a:ext cx="2559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8a6ff"/>
                </a:solidFill>
                <a:latin typeface="Calibri"/>
                <a:ea typeface="Calibri"/>
              </a:rPr>
              <a:t>Jaeger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6"/>
          <p:cNvSpPr/>
          <p:nvPr/>
        </p:nvSpPr>
        <p:spPr>
          <a:xfrm>
            <a:off x="6364080" y="128016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localhost:16686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7"/>
          <p:cNvSpPr/>
          <p:nvPr/>
        </p:nvSpPr>
        <p:spPr>
          <a:xfrm>
            <a:off x="360000" y="1800000"/>
            <a:ext cx="8639640" cy="2870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365760" y="4736880"/>
            <a:ext cx="8411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Backup screenshots — real demo runs live with k6 generating traffic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1"/>
          <a:stretch/>
        </p:blipFill>
        <p:spPr>
          <a:xfrm>
            <a:off x="1656000" y="1872000"/>
            <a:ext cx="5400000" cy="274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31"/>
          <p:cNvSpPr/>
          <p:nvPr/>
        </p:nvSpPr>
        <p:spPr>
          <a:xfrm>
            <a:off x="365760" y="274320"/>
            <a:ext cx="44640" cy="5292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2"/>
          <p:cNvSpPr/>
          <p:nvPr/>
        </p:nvSpPr>
        <p:spPr>
          <a:xfrm>
            <a:off x="502920" y="2559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6edf3"/>
                </a:solidFill>
                <a:latin typeface="Calibri"/>
                <a:ea typeface="Calibri"/>
              </a:rPr>
              <a:t>Live Demo</a:t>
            </a:r>
            <a:endParaRPr b="0" lang="pt-P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32"/>
          <p:cNvSpPr/>
          <p:nvPr/>
        </p:nvSpPr>
        <p:spPr>
          <a:xfrm>
            <a:off x="365760" y="877680"/>
            <a:ext cx="8411400" cy="190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35"/>
          <p:cNvSpPr/>
          <p:nvPr/>
        </p:nvSpPr>
        <p:spPr>
          <a:xfrm>
            <a:off x="0" y="4906080"/>
            <a:ext cx="9142920" cy="23652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36"/>
          <p:cNvSpPr/>
          <p:nvPr/>
        </p:nvSpPr>
        <p:spPr>
          <a:xfrm>
            <a:off x="365760" y="4906080"/>
            <a:ext cx="8411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36"/>
          <p:cNvSpPr/>
          <p:nvPr/>
        </p:nvSpPr>
        <p:spPr>
          <a:xfrm>
            <a:off x="365760" y="987480"/>
            <a:ext cx="276048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37"/>
          <p:cNvSpPr/>
          <p:nvPr/>
        </p:nvSpPr>
        <p:spPr>
          <a:xfrm>
            <a:off x="365760" y="987480"/>
            <a:ext cx="44640" cy="62064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37"/>
          <p:cNvSpPr/>
          <p:nvPr/>
        </p:nvSpPr>
        <p:spPr>
          <a:xfrm>
            <a:off x="475560" y="1005840"/>
            <a:ext cx="2559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722a"/>
                </a:solidFill>
                <a:latin typeface="Calibri"/>
                <a:ea typeface="Calibri"/>
              </a:rPr>
              <a:t>Load Test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38"/>
          <p:cNvSpPr/>
          <p:nvPr/>
        </p:nvSpPr>
        <p:spPr>
          <a:xfrm>
            <a:off x="475560" y="128016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k6 run loadtest/checkout-flow.js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38"/>
          <p:cNvSpPr/>
          <p:nvPr/>
        </p:nvSpPr>
        <p:spPr>
          <a:xfrm>
            <a:off x="3310200" y="987480"/>
            <a:ext cx="276048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39"/>
          <p:cNvSpPr/>
          <p:nvPr/>
        </p:nvSpPr>
        <p:spPr>
          <a:xfrm>
            <a:off x="3310200" y="987480"/>
            <a:ext cx="44640" cy="620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39"/>
          <p:cNvSpPr/>
          <p:nvPr/>
        </p:nvSpPr>
        <p:spPr>
          <a:xfrm>
            <a:off x="3420000" y="1005840"/>
            <a:ext cx="2559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fb950"/>
                </a:solidFill>
                <a:latin typeface="Calibri"/>
                <a:ea typeface="Calibri"/>
              </a:rPr>
              <a:t>Grafana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0"/>
          <p:cNvSpPr/>
          <p:nvPr/>
        </p:nvSpPr>
        <p:spPr>
          <a:xfrm>
            <a:off x="3420000" y="128016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localhost:3000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40"/>
          <p:cNvSpPr/>
          <p:nvPr/>
        </p:nvSpPr>
        <p:spPr>
          <a:xfrm>
            <a:off x="6254640" y="987480"/>
            <a:ext cx="276048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41"/>
          <p:cNvSpPr/>
          <p:nvPr/>
        </p:nvSpPr>
        <p:spPr>
          <a:xfrm>
            <a:off x="6254640" y="987480"/>
            <a:ext cx="44640" cy="620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41"/>
          <p:cNvSpPr/>
          <p:nvPr/>
        </p:nvSpPr>
        <p:spPr>
          <a:xfrm>
            <a:off x="6364080" y="1005840"/>
            <a:ext cx="2559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8a6ff"/>
                </a:solidFill>
                <a:latin typeface="Calibri"/>
                <a:ea typeface="Calibri"/>
              </a:rPr>
              <a:t>Jaeger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42"/>
          <p:cNvSpPr/>
          <p:nvPr/>
        </p:nvSpPr>
        <p:spPr>
          <a:xfrm>
            <a:off x="6364080" y="128016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localhost:16686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42"/>
          <p:cNvSpPr/>
          <p:nvPr/>
        </p:nvSpPr>
        <p:spPr>
          <a:xfrm>
            <a:off x="360000" y="1800000"/>
            <a:ext cx="8639640" cy="2870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43"/>
          <p:cNvSpPr/>
          <p:nvPr/>
        </p:nvSpPr>
        <p:spPr>
          <a:xfrm>
            <a:off x="365760" y="4736880"/>
            <a:ext cx="8411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Backup screenshots — real demo runs live with k6 generating traffic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1"/>
          <a:stretch/>
        </p:blipFill>
        <p:spPr>
          <a:xfrm>
            <a:off x="900000" y="1944360"/>
            <a:ext cx="7536960" cy="255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43"/>
          <p:cNvSpPr/>
          <p:nvPr/>
        </p:nvSpPr>
        <p:spPr>
          <a:xfrm>
            <a:off x="365760" y="274320"/>
            <a:ext cx="44640" cy="52920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44"/>
          <p:cNvSpPr/>
          <p:nvPr/>
        </p:nvSpPr>
        <p:spPr>
          <a:xfrm>
            <a:off x="502920" y="2559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6edf3"/>
                </a:solidFill>
                <a:latin typeface="Calibri"/>
                <a:ea typeface="Calibri"/>
              </a:rPr>
              <a:t>Live Demo</a:t>
            </a:r>
            <a:endParaRPr b="0" lang="pt-PT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44"/>
          <p:cNvSpPr/>
          <p:nvPr/>
        </p:nvSpPr>
        <p:spPr>
          <a:xfrm>
            <a:off x="365760" y="877680"/>
            <a:ext cx="8411400" cy="1908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45"/>
          <p:cNvSpPr/>
          <p:nvPr/>
        </p:nvSpPr>
        <p:spPr>
          <a:xfrm>
            <a:off x="0" y="4906080"/>
            <a:ext cx="9142920" cy="236520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45"/>
          <p:cNvSpPr/>
          <p:nvPr/>
        </p:nvSpPr>
        <p:spPr>
          <a:xfrm>
            <a:off x="365760" y="4906080"/>
            <a:ext cx="84114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Software Architectures · Assignment 1 · Bruno Tavares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46"/>
          <p:cNvSpPr/>
          <p:nvPr/>
        </p:nvSpPr>
        <p:spPr>
          <a:xfrm>
            <a:off x="365760" y="987480"/>
            <a:ext cx="276048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47"/>
          <p:cNvSpPr/>
          <p:nvPr/>
        </p:nvSpPr>
        <p:spPr>
          <a:xfrm>
            <a:off x="365760" y="987480"/>
            <a:ext cx="44640" cy="620640"/>
          </a:xfrm>
          <a:prstGeom prst="rect">
            <a:avLst/>
          </a:prstGeom>
          <a:solidFill>
            <a:srgbClr val="e8722a"/>
          </a:solidFill>
          <a:ln w="12700">
            <a:solidFill>
              <a:srgbClr val="e87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46"/>
          <p:cNvSpPr/>
          <p:nvPr/>
        </p:nvSpPr>
        <p:spPr>
          <a:xfrm>
            <a:off x="475560" y="1005840"/>
            <a:ext cx="2559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722a"/>
                </a:solidFill>
                <a:latin typeface="Calibri"/>
                <a:ea typeface="Calibri"/>
              </a:rPr>
              <a:t>Load Test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47"/>
          <p:cNvSpPr/>
          <p:nvPr/>
        </p:nvSpPr>
        <p:spPr>
          <a:xfrm>
            <a:off x="475560" y="128016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k6 run loadtest/checkout-flow.js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48"/>
          <p:cNvSpPr/>
          <p:nvPr/>
        </p:nvSpPr>
        <p:spPr>
          <a:xfrm>
            <a:off x="3310200" y="987480"/>
            <a:ext cx="276048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49"/>
          <p:cNvSpPr/>
          <p:nvPr/>
        </p:nvSpPr>
        <p:spPr>
          <a:xfrm>
            <a:off x="3310200" y="987480"/>
            <a:ext cx="44640" cy="620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48"/>
          <p:cNvSpPr/>
          <p:nvPr/>
        </p:nvSpPr>
        <p:spPr>
          <a:xfrm>
            <a:off x="3420000" y="1005840"/>
            <a:ext cx="2559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fb950"/>
                </a:solidFill>
                <a:latin typeface="Calibri"/>
                <a:ea typeface="Calibri"/>
              </a:rPr>
              <a:t>Grafana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49"/>
          <p:cNvSpPr/>
          <p:nvPr/>
        </p:nvSpPr>
        <p:spPr>
          <a:xfrm>
            <a:off x="3420000" y="128016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localhost:3000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65"/>
          <p:cNvSpPr/>
          <p:nvPr/>
        </p:nvSpPr>
        <p:spPr>
          <a:xfrm>
            <a:off x="6254640" y="987480"/>
            <a:ext cx="2760480" cy="62064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66"/>
          <p:cNvSpPr/>
          <p:nvPr/>
        </p:nvSpPr>
        <p:spPr>
          <a:xfrm>
            <a:off x="6254640" y="987480"/>
            <a:ext cx="44640" cy="620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50"/>
          <p:cNvSpPr/>
          <p:nvPr/>
        </p:nvSpPr>
        <p:spPr>
          <a:xfrm>
            <a:off x="6364080" y="1005840"/>
            <a:ext cx="2559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8a6ff"/>
                </a:solidFill>
                <a:latin typeface="Calibri"/>
                <a:ea typeface="Calibri"/>
              </a:rPr>
              <a:t>Jaeger</a:t>
            </a:r>
            <a:endParaRPr b="0" lang="pt-P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51"/>
          <p:cNvSpPr/>
          <p:nvPr/>
        </p:nvSpPr>
        <p:spPr>
          <a:xfrm>
            <a:off x="6364080" y="128016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d8590"/>
                </a:solidFill>
                <a:latin typeface="Consolas"/>
                <a:ea typeface="Consolas"/>
              </a:rPr>
              <a:t>localhost:16686</a:t>
            </a:r>
            <a:endParaRPr b="0" lang="pt-PT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67"/>
          <p:cNvSpPr/>
          <p:nvPr/>
        </p:nvSpPr>
        <p:spPr>
          <a:xfrm>
            <a:off x="360000" y="1800000"/>
            <a:ext cx="8639640" cy="2870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52"/>
          <p:cNvSpPr/>
          <p:nvPr/>
        </p:nvSpPr>
        <p:spPr>
          <a:xfrm>
            <a:off x="365760" y="4736880"/>
            <a:ext cx="8411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7d8590"/>
                </a:solidFill>
                <a:latin typeface="Calibri"/>
                <a:ea typeface="Calibri"/>
              </a:rPr>
              <a:t>Backup screenshots — real demo runs live with k6 generating traffic</a:t>
            </a:r>
            <a:endParaRPr b="0" lang="pt-PT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5" name="" descr=""/>
          <p:cNvPicPr/>
          <p:nvPr/>
        </p:nvPicPr>
        <p:blipFill>
          <a:blip r:embed="rId1"/>
          <a:stretch/>
        </p:blipFill>
        <p:spPr>
          <a:xfrm>
            <a:off x="1296000" y="1872000"/>
            <a:ext cx="6443640" cy="26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2026-03-22T19:12:13Z</dcterms:created>
  <dc:creator>PptxGenJS</dc:creator>
  <dc:description/>
  <dc:language>pt-PT</dc:language>
  <cp:lastModifiedBy/>
  <cp:lastPrinted>2026-03-23T12:50:03Z</cp:lastPrinted>
  <dcterms:modified xsi:type="dcterms:W3CDTF">2026-03-26T01:35:57Z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